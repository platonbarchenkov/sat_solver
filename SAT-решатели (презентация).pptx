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92" r:id="rId14"/>
    <p:sldId id="293" r:id="rId15"/>
    <p:sldId id="273" r:id="rId16"/>
    <p:sldId id="274" r:id="rId17"/>
    <p:sldId id="294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  <p:sldId id="29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CC9F5-884F-49E5-B517-9E8FA7861F61}" type="datetimeFigureOut">
              <a:rPr lang="ru-RU" smtClean="0"/>
              <a:t>08.01.2026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54255-CD34-44F6-A681-AB4C19756A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04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980-0D23-43BB-A63D-56EA25751E22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63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71A22-D42E-48D0-B1EB-6892DBED9C56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65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D7171-AC31-463F-8826-96FEC8E67E89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30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78B0-B191-4CA8-A160-1541DB9A6C24}" type="datetime1">
              <a:rPr lang="ru-RU" smtClean="0"/>
              <a:t>08.01.2026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59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932A-EC0D-4F11-89AA-A0E1CA5C3E2B}" type="datetime1">
              <a:rPr lang="ru-RU" smtClean="0"/>
              <a:t>08.01.2026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47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ABA-A7EE-4550-8639-D4A488B95078}" type="datetime1">
              <a:rPr lang="ru-RU" smtClean="0"/>
              <a:t>08.01.2026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73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4CC7-46C4-4103-B06C-B49D2A297761}" type="datetime1">
              <a:rPr lang="ru-RU" smtClean="0"/>
              <a:t>08.01.2026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69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38EE-DC73-4007-AA63-1E959F10CF99}" type="datetime1">
              <a:rPr lang="ru-RU" smtClean="0"/>
              <a:t>08.01.2026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33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0D20A-60A2-4F74-B982-667F8D4AF630}" type="datetime1">
              <a:rPr lang="ru-RU" smtClean="0"/>
              <a:t>08.01.2026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3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5FF3-9884-4E00-9FC8-FC2FD387C6D9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88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60C8-0F3A-4141-9ED5-D0A4E82A6F06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73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BF9C1-DB9B-4141-BFA9-B42D79F508B1}" type="datetime1">
              <a:rPr lang="ru-RU" smtClean="0"/>
              <a:t>08.01.2026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A8E35-B303-42FD-88A6-20A8D5E4F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47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latonBarchenkov/SAT_Solver/blob/master/benchmark_results.csv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648A7-B845-6B8F-28F2-2216AA938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Применение SAT-решателей для верификации комбинационных схем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8E1C7D-991C-E978-2819-AC63592A0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518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Выполнили студенты группы 3312:</a:t>
            </a:r>
          </a:p>
          <a:p>
            <a:r>
              <a:rPr lang="ru-RU" dirty="0"/>
              <a:t>Барченков Платон Алексеевич</a:t>
            </a:r>
          </a:p>
          <a:p>
            <a:r>
              <a:rPr lang="ru-RU" dirty="0"/>
              <a:t>Лебедев Игнат Артемович</a:t>
            </a:r>
          </a:p>
          <a:p>
            <a:r>
              <a:rPr lang="ru-RU" dirty="0"/>
              <a:t>Шарапов Иван Денисович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1C32449-B853-470B-8DFB-2D649774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07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Проблема проверки выполнимости булевых формул (SAT) представляет собой одну из фундаментальных NP-полных (полный перебор). Несмотря на отсутствие известных полиномиальных алгоритмов решения в общем случае, современные SAT-решатели, основанные на алгоритме CDCL (</a:t>
            </a:r>
            <a:r>
              <a:rPr lang="ru-RU" b="0" i="0" dirty="0" err="1">
                <a:effectLst/>
                <a:latin typeface="fkGroteskNeue"/>
              </a:rPr>
              <a:t>Conflict</a:t>
            </a:r>
            <a:r>
              <a:rPr lang="ru-RU" b="0" i="0" dirty="0">
                <a:effectLst/>
                <a:latin typeface="fkGroteskNeue"/>
              </a:rPr>
              <a:t>-Driven </a:t>
            </a:r>
            <a:r>
              <a:rPr lang="ru-RU" b="0" i="0" dirty="0" err="1">
                <a:effectLst/>
                <a:latin typeface="fkGroteskNeue"/>
              </a:rPr>
              <a:t>Clause</a:t>
            </a:r>
            <a:r>
              <a:rPr lang="ru-RU" b="0" i="0" dirty="0">
                <a:effectLst/>
                <a:latin typeface="fkGroteskNeue"/>
              </a:rPr>
              <a:t> Learning), демонстрируют эффективное решение формул с сотнями и тысячами переменных. 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DFCAB0-9277-439D-8D0D-D5EA5B4F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21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Цель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Целью данного исследования является систематическое изучение эволюции алгоритмических подходов от классического DPLL (</a:t>
            </a:r>
            <a:r>
              <a:rPr lang="ru-RU" b="0" i="0" dirty="0" err="1">
                <a:effectLst/>
                <a:latin typeface="fkGroteskNeue"/>
              </a:rPr>
              <a:t>Davis-Putnam-Logemann-Loveland</a:t>
            </a:r>
            <a:r>
              <a:rPr lang="ru-RU" b="0" i="0" dirty="0">
                <a:effectLst/>
                <a:latin typeface="fkGroteskNeue"/>
              </a:rPr>
              <a:t>) к современному CDCL, анализ архитектуры промышленного SMT-решателя Z3 от Microsoft Research, и эмпирическое сравнение производительности полного перебора с CDCL-алгоритмом на примере задачи проверки эквивалентности булевых схем.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48999C-A15F-4A53-8E5B-4B51C3C6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84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Суть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Проблема SAT формулируется следующим образом: дана булева формула F, составленная из пропозициональных переменных, логических операторов (конъюнкция, дизъюнкция, отрицание) и скобок. Требуется определить, существует ли такое назначение значений всем переменным из множества {0,1}, при котором формула F принимает значение истинно (1). Если такое назначение существует, формула называется выполнимой (SAT); в противном случае — невыполнимой (UNSAT).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265271-A918-4D03-954F-8176C2A4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07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Суть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Проблема SAT является первой NP-полной задачей, доказанной Стивеном Куком в 1971 году (теорема Кука). Хотя в худшем случае проблема требует экспоненциального времени вычисления O(2^n), где n — число переменных, эмпирические исследования показывают, что для большинства практических экземпляров современные SAT-решатели находят решение значительно быстрее.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3BA7F9-A899-4BF3-834E-B15ECDB8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56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Математические Основы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Булева переменная принимает значения из множества {0, 1}. Литерал — это либо переменная x, либо её отрицание ¬x. Клауза представляет собой дизъюнкцию литералов: (l₁ ∨ l₂ ∨ ... ∨ lₖ). Конъюнктивная Нормальная Форма (КНФ) — это конъюнкция клауз: (C₁ ∧ C₂ ∧ ... ∧ Cₘ).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КНФ является стандартным представлением для входных данных SAT-решателей, поскольку она позволяет эффективно применять методы, основанные на </a:t>
            </a:r>
            <a:r>
              <a:rPr lang="ru-RU" b="0" i="0" dirty="0" err="1">
                <a:effectLst/>
                <a:latin typeface="fkGroteskNeue"/>
              </a:rPr>
              <a:t>unit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propagation</a:t>
            </a:r>
            <a:r>
              <a:rPr lang="ru-RU" b="0" i="0" dirty="0">
                <a:effectLst/>
                <a:latin typeface="fkGroteskNeue"/>
              </a:rPr>
              <a:t> и </a:t>
            </a:r>
            <a:r>
              <a:rPr lang="ru-RU" b="0" i="0" dirty="0" err="1">
                <a:effectLst/>
                <a:latin typeface="fkGroteskNeue"/>
              </a:rPr>
              <a:t>resolution</a:t>
            </a:r>
            <a:r>
              <a:rPr lang="ru-RU" b="0" i="0" dirty="0">
                <a:effectLst/>
                <a:latin typeface="fkGroteskNeue"/>
              </a:rPr>
              <a:t>. Любая булева формула может быть преобразована в эквивалентную КНФ-формулу посредством распределительного закона, хотя это преобразование может экспоненциально увеличить размер формулы.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Основные логические операции определяются таблицами истинности: конъюнкция (AND), дизъюнкция (OR) и отрицание (NOT).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Формальное определение выполнимости: формула F называется выполнимой, если существует интерпретация I: F → {0, 1}, такая что F(I) = 1.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DF7197-9710-4F65-AA4A-E4BA8225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3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Ограничения полного перебора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Метод полного перебора (</a:t>
            </a:r>
            <a:r>
              <a:rPr lang="ru-RU" b="0" i="0" dirty="0" err="1">
                <a:effectLst/>
                <a:latin typeface="fkGroteskNeue"/>
              </a:rPr>
              <a:t>brute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force</a:t>
            </a:r>
            <a:r>
              <a:rPr lang="ru-RU" b="0" i="0" dirty="0">
                <a:effectLst/>
                <a:latin typeface="fkGroteskNeue"/>
              </a:rPr>
              <a:t>) основан на систематическом тестировании всех возможных назначений значений переменным формулы. Практическая применимость этого метода ограничивается следующим образом: при n = 10 переменных требуется проверить 1024 комбинации; при n = 20 — 1048576 комбинаций; при n = 30 — 1073741824 комбинаций.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Экспоненциальный рост функции 2ⁿ делает полный перебор практически неприменимым для n &gt; 25 на современных вычислительных системах. А такой запрос есть.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F50E8-CF4E-4F7A-9469-8A13C19A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56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SAT-</a:t>
            </a:r>
            <a:r>
              <a:rPr lang="ru-RU" dirty="0">
                <a:solidFill>
                  <a:schemeClr val="bg1"/>
                </a:solidFill>
              </a:rPr>
              <a:t>редукция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Одним из значительных практических применений SAT-решателей является верификация эквивалентности цифровых схем. Пусть даны две булевы функции F₁ и F₂, реализованные различными схемотехническими реализациями. Вопрос верификации формулируется следующим образом: выполняется ли условие ∀x ∈ {0,1}ⁿ: F₁(x) = F₂(x)? Классический подход к решению этой задачи посредством SAT-решателя использует конструкцию, называемую </a:t>
            </a:r>
            <a:r>
              <a:rPr lang="ru-RU" b="0" i="0" dirty="0" err="1">
                <a:effectLst/>
                <a:latin typeface="fkGroteskNeue"/>
              </a:rPr>
              <a:t>miter</a:t>
            </a:r>
            <a:r>
              <a:rPr lang="ru-RU" b="0" i="0" dirty="0">
                <a:effectLst/>
                <a:latin typeface="fkGroteskNeue"/>
              </a:rPr>
              <a:t>: D(x) = (F₁(x) ∧ ¬F₂(x)) ∨ (¬F₁(x) ∧ F₂(x)).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Формула D истинна тогда и только тогда, когда F₁ и F₂ выдают различные значения при некотором входном векторе x. SAT-решатель решает задачу о выполнимости D. Если D выполнима (SAT), то найдено свидетельство неэквивалентности (контрпример). Если D невыполнима (UNSAT), функции эквивалентны.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2F3A90-9F6E-4A95-9DA8-C97913D9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83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en-US" dirty="0">
                <a:solidFill>
                  <a:schemeClr val="bg1"/>
                </a:solidFill>
              </a:rPr>
              <a:t>DPLL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Алгоритм DPLL, предложенный </a:t>
            </a:r>
            <a:r>
              <a:rPr lang="ru-RU" b="0" i="0" dirty="0" err="1">
                <a:effectLst/>
                <a:latin typeface="fkGroteskNeue"/>
              </a:rPr>
              <a:t>Davis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Putnam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Logemann</a:t>
            </a:r>
            <a:r>
              <a:rPr lang="ru-RU" b="0" i="0" dirty="0">
                <a:effectLst/>
                <a:latin typeface="fkGroteskNeue"/>
              </a:rPr>
              <a:t> и </a:t>
            </a:r>
            <a:r>
              <a:rPr lang="ru-RU" b="0" i="0" dirty="0" err="1">
                <a:effectLst/>
                <a:latin typeface="fkGroteskNeue"/>
              </a:rPr>
              <a:t>Loveland</a:t>
            </a:r>
            <a:r>
              <a:rPr lang="ru-RU" b="0" i="0" dirty="0">
                <a:effectLst/>
                <a:latin typeface="fkGroteskNeue"/>
              </a:rPr>
              <a:t> в 1960-х годах, представляет собой первый систематический метод решения SAT-задач, использующий принцип поиска с возвратом (</a:t>
            </a:r>
            <a:r>
              <a:rPr lang="ru-RU" b="0" i="0" dirty="0" err="1">
                <a:effectLst/>
                <a:latin typeface="fkGroteskNeue"/>
              </a:rPr>
              <a:t>backtracking</a:t>
            </a:r>
            <a:r>
              <a:rPr lang="ru-RU" b="0" i="0" dirty="0">
                <a:effectLst/>
                <a:latin typeface="fkGroteskNeue"/>
              </a:rPr>
              <a:t>). Работает исключительно с формулами в конъюнктивной нормальной форме (КНФ). Основные компоненты алгоритма включают: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Unit </a:t>
            </a:r>
            <a:r>
              <a:rPr lang="ru-RU" b="0" i="0" dirty="0" err="1">
                <a:effectLst/>
                <a:latin typeface="fkGroteskNeue"/>
              </a:rPr>
              <a:t>Propagation</a:t>
            </a:r>
            <a:r>
              <a:rPr lang="ru-RU" b="0" i="0" dirty="0">
                <a:effectLst/>
                <a:latin typeface="fkGroteskNeue"/>
              </a:rPr>
              <a:t> — если клауза содержит единственный литерал, этот литерал обязательно должен быть установлен в истину; в результате клауза удаляется, остальные клаузы упрощаются путём удаления противоположного литерала;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Pure </a:t>
            </a:r>
            <a:r>
              <a:rPr lang="ru-RU" b="0" i="0" dirty="0" err="1">
                <a:effectLst/>
                <a:latin typeface="fkGroteskNeue"/>
              </a:rPr>
              <a:t>Literal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Elimination</a:t>
            </a:r>
            <a:r>
              <a:rPr lang="ru-RU" b="0" i="0" dirty="0">
                <a:effectLst/>
                <a:latin typeface="fkGroteskNeue"/>
              </a:rPr>
              <a:t> — если переменная встречается в формуле только в одном полярном виде, ей присваивается значение, удовлетворяющее все содержащие её клаузы;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(3) </a:t>
            </a:r>
            <a:r>
              <a:rPr lang="ru-RU" b="0" i="0" dirty="0" err="1">
                <a:effectLst/>
                <a:latin typeface="fkGroteskNeue"/>
              </a:rPr>
              <a:t>Decision</a:t>
            </a:r>
            <a:r>
              <a:rPr lang="ru-RU" b="0" i="0" dirty="0">
                <a:effectLst/>
                <a:latin typeface="fkGroteskNeue"/>
              </a:rPr>
              <a:t> — выбор неустановленной переменной и рекурсивная попытка обоих её значений; 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8957FA-0A58-4FB5-A0FA-A12124F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445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en-US" dirty="0">
                <a:solidFill>
                  <a:schemeClr val="bg1"/>
                </a:solidFill>
              </a:rPr>
              <a:t>DPLL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(4) </a:t>
            </a:r>
            <a:r>
              <a:rPr lang="ru-RU" b="0" i="0" dirty="0" err="1">
                <a:effectLst/>
                <a:latin typeface="fkGroteskNeue"/>
              </a:rPr>
              <a:t>Backtracking</a:t>
            </a:r>
            <a:r>
              <a:rPr lang="ru-RU" b="0" i="0" dirty="0">
                <a:effectLst/>
                <a:latin typeface="fkGroteskNeue"/>
              </a:rPr>
              <a:t> — при обнаружении противоречия (пустой клаузы) возврат к последней точке выбора и попытка альтернативного значения.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DPLL значительно снижает эффективный размер пространства поиска по сравнению с полным перебором, однако не использует информацию из предыдущих конфликтов для оптимизации будущего поиска.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Этого недостатка лишён следующий алгоритм.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В худшем случае временная сложность DPLL остаётся экспоненциальной.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3F3132-00CF-4874-8B4C-59FAEA43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260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en-US" dirty="0">
                <a:solidFill>
                  <a:schemeClr val="bg1"/>
                </a:solidFill>
              </a:rPr>
              <a:t>CDCL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Алгоритм CDCL (</a:t>
            </a:r>
            <a:r>
              <a:rPr lang="ru-RU" b="0" i="0" dirty="0" err="1">
                <a:effectLst/>
                <a:latin typeface="fkGroteskNeue"/>
              </a:rPr>
              <a:t>Conflict</a:t>
            </a:r>
            <a:r>
              <a:rPr lang="ru-RU" b="0" i="0" dirty="0">
                <a:effectLst/>
                <a:latin typeface="fkGroteskNeue"/>
              </a:rPr>
              <a:t>-Driven </a:t>
            </a:r>
            <a:r>
              <a:rPr lang="ru-RU" b="0" i="0" dirty="0" err="1">
                <a:effectLst/>
                <a:latin typeface="fkGroteskNeue"/>
              </a:rPr>
              <a:t>Clause</a:t>
            </a:r>
            <a:r>
              <a:rPr lang="ru-RU" b="0" i="0" dirty="0">
                <a:effectLst/>
                <a:latin typeface="fkGroteskNeue"/>
              </a:rPr>
              <a:t> Learning) представляет собой современное расширение DPLL, определившее развитие SAT-решателей за последние два десятилетия. Ключевые инновации CDCL включают: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</a:t>
            </a:r>
            <a:r>
              <a:rPr lang="ru-RU" b="0" i="0" dirty="0" err="1">
                <a:effectLst/>
                <a:latin typeface="fkGroteskNeue"/>
              </a:rPr>
              <a:t>Clause</a:t>
            </a:r>
            <a:r>
              <a:rPr lang="ru-RU" b="0" i="0" dirty="0">
                <a:effectLst/>
                <a:latin typeface="fkGroteskNeue"/>
              </a:rPr>
              <a:t> Learning — при обнаружении конфликта анализируются причины конфликта: выполняется обход графа импликаций в обратном направлении; на основе этого анализа синтезируется новая клауза, которая добавляется в формулу и предотвращает повторение идентичного конфликта;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Non-</a:t>
            </a:r>
            <a:r>
              <a:rPr lang="ru-RU" b="0" i="0" dirty="0" err="1">
                <a:effectLst/>
                <a:latin typeface="fkGroteskNeue"/>
              </a:rPr>
              <a:t>chronological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Backtracking</a:t>
            </a:r>
            <a:r>
              <a:rPr lang="ru-RU" b="0" i="0" dirty="0">
                <a:effectLst/>
                <a:latin typeface="fkGroteskNeue"/>
              </a:rPr>
              <a:t> — возврат выполняется не на один уровень, а на уровень, определяемый анализом конфликта (</a:t>
            </a:r>
            <a:r>
              <a:rPr lang="ru-RU" b="0" i="0" dirty="0" err="1">
                <a:effectLst/>
                <a:latin typeface="fkGroteskNeue"/>
              </a:rPr>
              <a:t>asserting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level</a:t>
            </a:r>
            <a:r>
              <a:rPr lang="ru-RU" b="0" i="0" dirty="0">
                <a:effectLst/>
                <a:latin typeface="fkGroteskNeue"/>
              </a:rPr>
              <a:t>), что позволяет более эффективно сужать пространство поиска; 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133BAB-901F-4384-B9F6-B8D98B83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210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en-US" dirty="0">
                <a:solidFill>
                  <a:schemeClr val="bg1"/>
                </a:solidFill>
              </a:rPr>
              <a:t>CDCL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(</a:t>
            </a:r>
            <a:r>
              <a:rPr lang="ru-RU" b="0" i="0" dirty="0">
                <a:effectLst/>
                <a:latin typeface="fkGroteskNeue"/>
              </a:rPr>
              <a:t>3) VSIDS </a:t>
            </a:r>
            <a:r>
              <a:rPr lang="ru-RU" b="0" i="0" dirty="0" err="1">
                <a:effectLst/>
                <a:latin typeface="fkGroteskNeue"/>
              </a:rPr>
              <a:t>Heuristic</a:t>
            </a:r>
            <a:r>
              <a:rPr lang="ru-RU" b="0" i="0" dirty="0">
                <a:effectLst/>
                <a:latin typeface="fkGroteskNeue"/>
              </a:rPr>
              <a:t> (</a:t>
            </a:r>
            <a:r>
              <a:rPr lang="ru-RU" b="0" i="0" dirty="0" err="1">
                <a:effectLst/>
                <a:latin typeface="fkGroteskNeue"/>
              </a:rPr>
              <a:t>Variable</a:t>
            </a:r>
            <a:r>
              <a:rPr lang="ru-RU" b="0" i="0" dirty="0">
                <a:effectLst/>
                <a:latin typeface="fkGroteskNeue"/>
              </a:rPr>
              <a:t> State Independent </a:t>
            </a:r>
            <a:r>
              <a:rPr lang="ru-RU" b="0" i="0" dirty="0" err="1">
                <a:effectLst/>
                <a:latin typeface="fkGroteskNeue"/>
              </a:rPr>
              <a:t>Decaying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Sum</a:t>
            </a:r>
            <a:r>
              <a:rPr lang="ru-RU" b="0" i="0" dirty="0">
                <a:effectLst/>
                <a:latin typeface="fkGroteskNeue"/>
              </a:rPr>
              <a:t>) — эвристика выбора переменной, которая </a:t>
            </a:r>
            <a:r>
              <a:rPr lang="ru-RU" b="0" i="0" dirty="0" err="1">
                <a:effectLst/>
                <a:latin typeface="fkGroteskNeue"/>
              </a:rPr>
              <a:t>приоритизирует</a:t>
            </a:r>
            <a:r>
              <a:rPr lang="ru-RU" b="0" i="0" dirty="0">
                <a:effectLst/>
                <a:latin typeface="fkGroteskNeue"/>
              </a:rPr>
              <a:t> переменные, часто появляющиеся в недавних конфликтах, с экспоненциальным затуханием старых данных;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(4) </a:t>
            </a:r>
            <a:r>
              <a:rPr lang="ru-RU" b="0" i="0" dirty="0" err="1">
                <a:effectLst/>
                <a:latin typeface="fkGroteskNeue"/>
              </a:rPr>
              <a:t>Restarts</a:t>
            </a:r>
            <a:r>
              <a:rPr lang="ru-RU" b="0" i="0" dirty="0">
                <a:effectLst/>
                <a:latin typeface="fkGroteskNeue"/>
              </a:rPr>
              <a:t> — периодическая перезагрузка процесса поиска с сохранением выученных клауз, что помогает преодолевать "застревание" в неудачных ветвях;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(5) In-</a:t>
            </a:r>
            <a:r>
              <a:rPr lang="ru-RU" b="0" i="0" dirty="0" err="1">
                <a:effectLst/>
                <a:latin typeface="fkGroteskNeue"/>
              </a:rPr>
              <a:t>processing</a:t>
            </a:r>
            <a:r>
              <a:rPr lang="ru-RU" b="0" i="0" dirty="0">
                <a:effectLst/>
                <a:latin typeface="fkGroteskNeue"/>
              </a:rPr>
              <a:t> — оптимизация формулы во время решения путём упрощения и удаления избыточных клауз. </a:t>
            </a:r>
            <a:endParaRPr lang="en-US" b="0" i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CDCL-решатели </a:t>
            </a:r>
            <a:r>
              <a:rPr lang="ru-RU" b="0" i="0" dirty="0">
                <a:effectLst/>
                <a:latin typeface="fkGroteskNeue"/>
              </a:rPr>
              <a:t>демонстрируют способность решать практические экземпляры SAT с тысячами переменных и миллионами клауз.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31043C-911B-444D-A1E3-CBCD9C0F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17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Z3 </a:t>
            </a:r>
            <a:r>
              <a:rPr lang="ru-RU" dirty="0">
                <a:solidFill>
                  <a:schemeClr val="bg1"/>
                </a:solidFill>
              </a:rPr>
              <a:t>решатель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Z3 — SMT-решатель, разработанный в Microsoft Research. В отличие от классических SAT-решателей, Z3 поддерживает не только булеву логику, но и теории целых/вещественных чисел, массивов и функций.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Архитектура основана на CDCL-алгоритме, дополненном слоями: </a:t>
            </a:r>
            <a:r>
              <a:rPr lang="ru-RU" b="0" i="0" dirty="0" err="1">
                <a:effectLst/>
                <a:latin typeface="fkGroteskNeue"/>
              </a:rPr>
              <a:t>парсинг</a:t>
            </a:r>
            <a:r>
              <a:rPr lang="ru-RU" b="0" i="0" dirty="0">
                <a:effectLst/>
                <a:latin typeface="fkGroteskNeue"/>
              </a:rPr>
              <a:t> и построение AST, применение теоретических </a:t>
            </a:r>
            <a:r>
              <a:rPr lang="ru-RU" b="0" i="0" dirty="0" err="1">
                <a:effectLst/>
                <a:latin typeface="fkGroteskNeue"/>
              </a:rPr>
              <a:t>разрешителей</a:t>
            </a:r>
            <a:r>
              <a:rPr lang="ru-RU" b="0" i="0" dirty="0">
                <a:effectLst/>
                <a:latin typeface="fkGroteskNeue"/>
              </a:rPr>
              <a:t>, ядро SAT-решателя с оптимизациями, управление конфликтами и обучение клаузам.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Производительность обеспечивается благодаря VSIDS-эвристике, эффективному управлению памятью, стратегиям рестарта и параллельному поиску. Решатель распространяется открытым исходным кодом на </a:t>
            </a:r>
            <a:r>
              <a:rPr lang="ru-RU" b="0" i="0" dirty="0" err="1">
                <a:effectLst/>
                <a:latin typeface="fkGroteskNeue"/>
              </a:rPr>
              <a:t>GitHub</a:t>
            </a:r>
            <a:r>
              <a:rPr lang="ru-RU" b="0" i="0" dirty="0">
                <a:effectLst/>
                <a:latin typeface="fkGroteskNeue"/>
              </a:rPr>
              <a:t> с поддержкой привязок для Python, Java, C++, Go и </a:t>
            </a:r>
            <a:r>
              <a:rPr lang="ru-RU" b="0" i="0" dirty="0" err="1">
                <a:effectLst/>
                <a:latin typeface="fkGroteskNeue"/>
              </a:rPr>
              <a:t>Rust</a:t>
            </a:r>
            <a:r>
              <a:rPr lang="ru-RU" b="0" i="0" dirty="0">
                <a:effectLst/>
                <a:latin typeface="fkGroteskNeue"/>
              </a:rPr>
              <a:t>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B4DA7F-6AFA-4332-B7B0-81DF4138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917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AST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Абстрактное синтаксическое дерево (англ. </a:t>
            </a:r>
            <a:r>
              <a:rPr lang="ru-RU" b="0" i="0" dirty="0" err="1">
                <a:effectLst/>
                <a:latin typeface="fkGroteskNeue"/>
              </a:rPr>
              <a:t>abstract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syntax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tree</a:t>
            </a:r>
            <a:r>
              <a:rPr lang="ru-RU" b="0" i="0" dirty="0">
                <a:effectLst/>
                <a:latin typeface="fkGroteskNeue"/>
              </a:rPr>
              <a:t>, AST) — конечное помеченное ориентированное дерево, в котором внутренние вершины сопоставлены (помечены) с операторами, а листья — с соответствующими операндами.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dirty="0"/>
              <a:t>Таким образом, листья являются пустыми операторами и представляют только переменные и константы.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58395C-9FD8-4434-81C3-6965928A00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07"/>
          <a:stretch/>
        </p:blipFill>
        <p:spPr>
          <a:xfrm>
            <a:off x="5449561" y="4039501"/>
            <a:ext cx="5904239" cy="2404842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E1BE82-7172-4188-874A-3C6F6F47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222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Полный перебор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Алгоритм полного перебора для проверки эквивалентности двух булевых формул F₁ и F₂ основан на следующей процедуре: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Пусть </a:t>
            </a:r>
            <a:r>
              <a:rPr lang="ru-RU" b="0" i="0" dirty="0" err="1">
                <a:effectLst/>
                <a:latin typeface="fkGroteskNeue"/>
              </a:rPr>
              <a:t>Var</a:t>
            </a:r>
            <a:r>
              <a:rPr lang="ru-RU" b="0" i="0" dirty="0">
                <a:effectLst/>
                <a:latin typeface="fkGroteskNeue"/>
              </a:rPr>
              <a:t> = {x₀, x₁, ..., xₙ₋₁} — объединение множеств переменных обеих формул. Для каждой интерпретации σ: </a:t>
            </a:r>
            <a:r>
              <a:rPr lang="ru-RU" b="0" i="0" dirty="0" err="1">
                <a:effectLst/>
                <a:latin typeface="fkGroteskNeue"/>
              </a:rPr>
              <a:t>Var</a:t>
            </a:r>
            <a:r>
              <a:rPr lang="ru-RU" b="0" i="0" dirty="0">
                <a:effectLst/>
                <a:latin typeface="fkGroteskNeue"/>
              </a:rPr>
              <a:t> → {0, 1} (всего 2ⁿ интерпретаций) вычисляются значения F₁(σ) и F₂(σ). Если существует интерпретация σ, для которой F₁(σ) ≠ F₂(σ), формулы не эквивалентны — процедура возвращает </a:t>
            </a:r>
            <a:r>
              <a:rPr lang="ru-RU" b="0" i="0" dirty="0" err="1">
                <a:effectLst/>
                <a:latin typeface="fkGroteskNeue"/>
              </a:rPr>
              <a:t>False</a:t>
            </a:r>
            <a:r>
              <a:rPr lang="ru-RU" b="0" i="0" dirty="0">
                <a:effectLst/>
                <a:latin typeface="fkGroteskNeue"/>
              </a:rPr>
              <a:t>. Если все интерпретации удовлетворяют F₁(σ) = F₂(σ), формулы эквивалентны — возвращает True.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FDAAFE-ACCE-459A-BD42-482B02F6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2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Полный перебор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Временная сложность алгоритма: T = O(2ⁿ · m), где m — время вычисления формулы. Пространственная сложность: O(n). Практическая верхняя граница применимости полного перебора составляет n ≤ 25 переменных на современных ПК, при этом время вычисления может достигать нескольких минут.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Преимущество метода — простота реализации и гарантированная корректность. Недостаток — невозможность масштабирования на более крупные задачи.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FD50E0-FD6E-4394-B4DD-801178EE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443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Использование </a:t>
            </a:r>
            <a:r>
              <a:rPr lang="en-US" dirty="0">
                <a:solidFill>
                  <a:schemeClr val="bg1"/>
                </a:solidFill>
              </a:rPr>
              <a:t>Z3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Подход верификации с использованием Z3 основан на редукции к задаче выполнимости. Для проверки эквивалентности F₁ ≡ F₂ строится формула </a:t>
            </a:r>
            <a:r>
              <a:rPr lang="ru-RU" b="0" i="0" dirty="0" err="1">
                <a:effectLst/>
                <a:latin typeface="fkGroteskNeue"/>
              </a:rPr>
              <a:t>miter</a:t>
            </a:r>
            <a:r>
              <a:rPr lang="ru-RU" b="0" i="0" dirty="0">
                <a:effectLst/>
                <a:latin typeface="fkGroteskNeue"/>
              </a:rPr>
              <a:t>: M(x) = (F₁(x) ∧ ¬F₂(x)) ∨ (¬F₁(x) ∧ F₂(x)).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Формула M выражает XOR функций: M истинна тогда и только тогда, когда F₁ и F₂ выдают различные значения. Процедура: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</a:t>
            </a:r>
            <a:r>
              <a:rPr lang="ru-RU" b="0" i="0" dirty="0" err="1">
                <a:effectLst/>
                <a:latin typeface="fkGroteskNeue"/>
              </a:rPr>
              <a:t>Парсинг</a:t>
            </a:r>
            <a:r>
              <a:rPr lang="ru-RU" b="0" i="0" dirty="0">
                <a:effectLst/>
                <a:latin typeface="fkGroteskNeue"/>
              </a:rPr>
              <a:t> обеих формул в AST; 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Трансляция AST в Z3 выражения с использованием рекурсивного обхода дерева и преобразования узлов в соответствующие Z3 примитивы (And, </a:t>
            </a:r>
            <a:r>
              <a:rPr lang="ru-RU" b="0" i="0" dirty="0" err="1">
                <a:effectLst/>
                <a:latin typeface="fkGroteskNeue"/>
              </a:rPr>
              <a:t>Or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Not</a:t>
            </a:r>
            <a:r>
              <a:rPr lang="ru-RU" b="0" i="0" dirty="0">
                <a:effectLst/>
                <a:latin typeface="fkGroteskNeue"/>
              </a:rPr>
              <a:t>);</a:t>
            </a:r>
            <a:endParaRPr lang="en-US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728505-F386-45EA-90CC-D691EA1C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91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Использование </a:t>
            </a:r>
            <a:r>
              <a:rPr lang="en-US" dirty="0">
                <a:solidFill>
                  <a:schemeClr val="bg1"/>
                </a:solidFill>
              </a:rPr>
              <a:t>Z3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(3) Конструирование </a:t>
            </a:r>
            <a:r>
              <a:rPr lang="ru-RU" b="0" i="0" dirty="0" err="1">
                <a:effectLst/>
                <a:latin typeface="fkGroteskNeue"/>
              </a:rPr>
              <a:t>miter</a:t>
            </a:r>
            <a:r>
              <a:rPr lang="ru-RU" b="0" i="0" dirty="0">
                <a:effectLst/>
                <a:latin typeface="fkGroteskNeue"/>
              </a:rPr>
              <a:t> как булево выражение в Z3;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(4) Добавление </a:t>
            </a:r>
            <a:r>
              <a:rPr lang="ru-RU" b="0" i="0" dirty="0" err="1">
                <a:effectLst/>
                <a:latin typeface="fkGroteskNeue"/>
              </a:rPr>
              <a:t>miter</a:t>
            </a:r>
            <a:r>
              <a:rPr lang="ru-RU" b="0" i="0" dirty="0">
                <a:effectLst/>
                <a:latin typeface="fkGroteskNeue"/>
              </a:rPr>
              <a:t> в Z3 </a:t>
            </a:r>
            <a:r>
              <a:rPr lang="ru-RU" b="0" i="0" dirty="0" err="1">
                <a:effectLst/>
                <a:latin typeface="fkGroteskNeue"/>
              </a:rPr>
              <a:t>Solver</a:t>
            </a:r>
            <a:r>
              <a:rPr lang="ru-RU" b="0" i="0" dirty="0">
                <a:effectLst/>
                <a:latin typeface="fkGroteskNeue"/>
              </a:rPr>
              <a:t>: </a:t>
            </a:r>
            <a:r>
              <a:rPr lang="ru-RU" b="0" i="0" dirty="0" err="1">
                <a:effectLst/>
                <a:latin typeface="fkGroteskNeue"/>
              </a:rPr>
              <a:t>solver.add</a:t>
            </a:r>
            <a:r>
              <a:rPr lang="ru-RU" b="0" i="0" dirty="0">
                <a:effectLst/>
                <a:latin typeface="fkGroteskNeue"/>
              </a:rPr>
              <a:t>(M);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(5) Вызов </a:t>
            </a:r>
            <a:r>
              <a:rPr lang="ru-RU" b="0" i="0" dirty="0" err="1">
                <a:effectLst/>
                <a:latin typeface="fkGroteskNeue"/>
              </a:rPr>
              <a:t>solver.check</a:t>
            </a:r>
            <a:r>
              <a:rPr lang="ru-RU" b="0" i="0" dirty="0">
                <a:effectLst/>
                <a:latin typeface="fkGroteskNeue"/>
              </a:rPr>
              <a:t>(): если результат SAT, найдено свидетельство различия — формулы не эквивалентны; если UNSAT — формулы эквивалентны. Z3 при наличии свидетельства (SAT) может извлечь значение-модель, которое служит контрпримером.</a:t>
            </a:r>
            <a:endParaRPr lang="en-US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Временная сложность в среднем случае практически не зависит от n, что демонстрирует эффективность CDCL-стратегий.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24A9A7-DD02-4C15-B447-CC7B6D02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77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Ручное сравнение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A858C-C156-B159-B6C9-F121B8D996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187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0" i="0" dirty="0">
                    <a:effectLst/>
                    <a:latin typeface="fkGroteskNeue"/>
                  </a:rPr>
                  <a:t>Для анализа производительности на малых формулах (n ≤ 10 переменных) были проведены измерения на наборе тестовых примеров с различными типами логических связей. Результаты показали:</a:t>
                </a:r>
              </a:p>
              <a:p>
                <a:pPr marL="0" indent="0">
                  <a:buNone/>
                </a:pPr>
                <a:r>
                  <a:rPr lang="ru-RU" b="0" i="0" dirty="0">
                    <a:effectLst/>
                    <a:latin typeface="fkGroteskNeue"/>
                  </a:rPr>
                  <a:t>Пример 1 (x₀ </a:t>
                </a:r>
                <a14:m>
                  <m:oMath xmlns:m="http://schemas.openxmlformats.org/officeDocument/2006/math">
                    <m:r>
                      <a:rPr lang="ru-RU" b="0" i="1" smtClean="0">
                        <a:effectLst/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ru-RU" b="0" i="0" dirty="0">
                    <a:effectLst/>
                    <a:latin typeface="fkGroteskNeue"/>
                  </a:rPr>
                  <a:t> x₁ </a:t>
                </a:r>
                <a:r>
                  <a:rPr lang="ru-RU" b="0" i="0" dirty="0" err="1">
                    <a:effectLst/>
                    <a:latin typeface="fkGroteskNeue"/>
                  </a:rPr>
                  <a:t>vs</a:t>
                </a:r>
                <a:r>
                  <a:rPr lang="ru-RU" b="0" i="0" dirty="0">
                    <a:effectLst/>
                    <a:latin typeface="fkGroteskNeue"/>
                  </a:rPr>
                  <a:t> x₁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ru-RU" b="0" i="0" dirty="0">
                    <a:effectLst/>
                    <a:latin typeface="fkGroteskNeue"/>
                  </a:rPr>
                  <a:t> x₀): </a:t>
                </a:r>
                <a:r>
                  <a:rPr lang="ru-RU" b="0" i="0" dirty="0" err="1">
                    <a:effectLst/>
                    <a:latin typeface="fkGroteskNeue"/>
                  </a:rPr>
                  <a:t>bruteforce</a:t>
                </a:r>
                <a:r>
                  <a:rPr lang="ru-RU" b="0" i="0" dirty="0">
                    <a:effectLst/>
                    <a:latin typeface="fkGroteskNeue"/>
                  </a:rPr>
                  <a:t> = 0.01</a:t>
                </a:r>
                <a:r>
                  <a:rPr lang="en-US" b="0" i="0" dirty="0">
                    <a:effectLst/>
                    <a:latin typeface="fkGroteskNeue"/>
                  </a:rPr>
                  <a:t>2</a:t>
                </a:r>
                <a:r>
                  <a:rPr lang="ru-RU" b="0" i="0" dirty="0">
                    <a:effectLst/>
                    <a:latin typeface="fkGroteskNeue"/>
                  </a:rPr>
                  <a:t>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en-US" b="0" i="0" dirty="0">
                    <a:effectLst/>
                    <a:latin typeface="fkGroteskNeue"/>
                  </a:rPr>
                  <a:t>,</a:t>
                </a:r>
                <a:r>
                  <a:rPr lang="ru-RU" b="0" i="0" dirty="0">
                    <a:effectLst/>
                    <a:latin typeface="fkGroteskNeue"/>
                  </a:rPr>
                  <a:t> </a:t>
                </a:r>
                <a:r>
                  <a:rPr lang="en-US" dirty="0">
                    <a:latin typeface="fkGroteskNeue"/>
                  </a:rPr>
                  <a:t>DPLL = 0.209</a:t>
                </a:r>
                <a:r>
                  <a:rPr lang="ru-RU" dirty="0">
                    <a:latin typeface="fkGroteskNeue"/>
                  </a:rPr>
                  <a:t>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ru-RU" dirty="0">
                    <a:latin typeface="fkGroteskNeue"/>
                  </a:rPr>
                  <a:t>, </a:t>
                </a:r>
                <a:r>
                  <a:rPr lang="en-US" dirty="0">
                    <a:latin typeface="fkGroteskNeue"/>
                  </a:rPr>
                  <a:t>CDCL = </a:t>
                </a:r>
                <a:r>
                  <a:rPr lang="ru-RU" dirty="0">
                    <a:latin typeface="fkGroteskNeue"/>
                  </a:rPr>
                  <a:t>0.370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en-US" dirty="0">
                    <a:latin typeface="fkGroteskNeue"/>
                  </a:rPr>
                  <a:t>, </a:t>
                </a:r>
                <a:r>
                  <a:rPr lang="ru-RU" dirty="0">
                    <a:latin typeface="fkGroteskNeue"/>
                  </a:rPr>
                  <a:t>Z3 </a:t>
                </a:r>
                <a:r>
                  <a:rPr lang="ru-RU" b="0" i="0" dirty="0">
                    <a:effectLst/>
                    <a:latin typeface="fkGroteskNeue"/>
                  </a:rPr>
                  <a:t>= </a:t>
                </a:r>
                <a:r>
                  <a:rPr lang="en-US" b="0" i="0" dirty="0">
                    <a:effectLst/>
                    <a:latin typeface="fkGroteskNeue"/>
                  </a:rPr>
                  <a:t>60.015</a:t>
                </a:r>
                <a:r>
                  <a:rPr lang="ru-RU" b="0" i="0" dirty="0">
                    <a:effectLst/>
                    <a:latin typeface="fkGroteskNeue"/>
                  </a:rPr>
                  <a:t>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ru-RU" b="0" i="0" dirty="0">
                    <a:effectLst/>
                    <a:latin typeface="fkGroteskNeue"/>
                  </a:rPr>
                  <a:t>; </a:t>
                </a:r>
              </a:p>
              <a:p>
                <a:pPr marL="0" indent="0">
                  <a:buNone/>
                </a:pPr>
                <a:r>
                  <a:rPr lang="ru-RU" b="0" i="0" dirty="0">
                    <a:effectLst/>
                    <a:latin typeface="fkGroteskNeue"/>
                  </a:rPr>
                  <a:t>Пример 2 (x₀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ru-RU" b="0" i="0" dirty="0">
                    <a:effectLst/>
                    <a:latin typeface="fkGroteskNeue"/>
                  </a:rPr>
                  <a:t> x₁ </a:t>
                </a:r>
                <a:r>
                  <a:rPr lang="ru-RU" b="0" i="0" dirty="0" err="1">
                    <a:effectLst/>
                    <a:latin typeface="fkGroteskNeue"/>
                  </a:rPr>
                  <a:t>vs</a:t>
                </a:r>
                <a:r>
                  <a:rPr lang="ru-RU" b="0" i="0" dirty="0">
                    <a:effectLst/>
                    <a:latin typeface="fkGroteskNeue"/>
                  </a:rPr>
                  <a:t> x</a:t>
                </a:r>
                <a:r>
                  <a:rPr lang="ru-RU" dirty="0">
                    <a:latin typeface="fkGroteskNeue"/>
                  </a:rPr>
                  <a:t>₀ ∨ x</a:t>
                </a:r>
                <a:r>
                  <a:rPr lang="ru-RU" b="0" i="0" dirty="0">
                    <a:effectLst/>
                    <a:latin typeface="fkGroteskNeue"/>
                  </a:rPr>
                  <a:t>₁): </a:t>
                </a:r>
                <a:r>
                  <a:rPr lang="en-US" dirty="0" err="1">
                    <a:latin typeface="fkGroteskNeue"/>
                  </a:rPr>
                  <a:t>bruteforce</a:t>
                </a:r>
                <a:r>
                  <a:rPr lang="en-US" dirty="0">
                    <a:latin typeface="fkGroteskNeue"/>
                  </a:rPr>
                  <a:t> = 0.0</a:t>
                </a:r>
                <a:r>
                  <a:rPr lang="ru-RU" dirty="0">
                    <a:latin typeface="fkGroteskNeue"/>
                  </a:rPr>
                  <a:t>08</a:t>
                </a:r>
                <a:r>
                  <a:rPr lang="en-US" dirty="0">
                    <a:latin typeface="fkGroteskNeue"/>
                  </a:rPr>
                  <a:t>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ru-RU" dirty="0">
                    <a:latin typeface="fkGroteskNeue"/>
                  </a:rPr>
                  <a:t>, </a:t>
                </a:r>
                <a:r>
                  <a:rPr lang="en-US" dirty="0">
                    <a:latin typeface="fkGroteskNeue"/>
                  </a:rPr>
                  <a:t>DPLL = 0.</a:t>
                </a:r>
                <a:r>
                  <a:rPr lang="ru-RU" dirty="0">
                    <a:latin typeface="fkGroteskNeue"/>
                  </a:rPr>
                  <a:t>125</a:t>
                </a:r>
                <a:r>
                  <a:rPr lang="en-US" dirty="0">
                    <a:latin typeface="fkGroteskNeue"/>
                  </a:rPr>
                  <a:t>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ru-RU" dirty="0">
                    <a:latin typeface="fkGroteskNeue"/>
                  </a:rPr>
                  <a:t>, </a:t>
                </a:r>
                <a:r>
                  <a:rPr lang="en-US" dirty="0">
                    <a:latin typeface="fkGroteskNeue"/>
                  </a:rPr>
                  <a:t>CDCL = 0.</a:t>
                </a:r>
                <a:r>
                  <a:rPr lang="ru-RU" dirty="0">
                    <a:latin typeface="fkGroteskNeue"/>
                  </a:rPr>
                  <a:t>169</a:t>
                </a:r>
                <a:r>
                  <a:rPr lang="en-US" dirty="0">
                    <a:latin typeface="fkGroteskNeue"/>
                  </a:rPr>
                  <a:t>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en-US" dirty="0">
                    <a:latin typeface="fkGroteskNeue"/>
                  </a:rPr>
                  <a:t>, Z3 = </a:t>
                </a:r>
                <a:r>
                  <a:rPr lang="ru-RU" dirty="0">
                    <a:latin typeface="fkGroteskNeue"/>
                  </a:rPr>
                  <a:t>7</a:t>
                </a:r>
                <a:r>
                  <a:rPr lang="en-US" dirty="0">
                    <a:latin typeface="fkGroteskNeue"/>
                  </a:rPr>
                  <a:t>.</a:t>
                </a:r>
                <a:r>
                  <a:rPr lang="ru-RU" dirty="0">
                    <a:latin typeface="fkGroteskNeue"/>
                  </a:rPr>
                  <a:t>522</a:t>
                </a:r>
                <a:r>
                  <a:rPr lang="en-US" dirty="0">
                    <a:latin typeface="fkGroteskNeue"/>
                  </a:rPr>
                  <a:t> </a:t>
                </a:r>
                <a:r>
                  <a:rPr lang="ru-RU" dirty="0" err="1">
                    <a:latin typeface="fkGroteskNeue"/>
                  </a:rPr>
                  <a:t>мс</a:t>
                </a:r>
                <a:r>
                  <a:rPr lang="ru-RU" dirty="0">
                    <a:latin typeface="fkGroteskNeue"/>
                  </a:rPr>
                  <a:t>; </a:t>
                </a:r>
                <a:endParaRPr lang="ru-RU" b="0" i="0" dirty="0">
                  <a:effectLst/>
                  <a:latin typeface="fkGroteskNeue"/>
                </a:endParaRPr>
              </a:p>
              <a:p>
                <a:pPr marL="0" indent="0">
                  <a:buNone/>
                </a:pPr>
                <a:r>
                  <a:rPr lang="ru-RU" b="0" i="0" dirty="0">
                    <a:effectLst/>
                    <a:latin typeface="fkGroteskNeue"/>
                  </a:rPr>
                  <a:t>Пример 8 (x₀ → x₁ </a:t>
                </a:r>
                <a:r>
                  <a:rPr lang="ru-RU" b="0" i="0" dirty="0" err="1">
                    <a:effectLst/>
                    <a:latin typeface="fkGroteskNeue"/>
                  </a:rPr>
                  <a:t>vs</a:t>
                </a:r>
                <a:r>
                  <a:rPr lang="ru-RU" b="0" i="0" dirty="0">
                    <a:effectLst/>
                    <a:latin typeface="fkGroteskNeue"/>
                  </a:rPr>
                  <a:t> ¬x₀ ∨ x₁): </a:t>
                </a:r>
                <a:r>
                  <a:rPr lang="ru-RU" b="0" i="0" dirty="0" err="1">
                    <a:effectLst/>
                    <a:latin typeface="fkGroteskNeue"/>
                  </a:rPr>
                  <a:t>bruteforce</a:t>
                </a:r>
                <a:r>
                  <a:rPr lang="ru-RU" b="0" i="0" dirty="0">
                    <a:effectLst/>
                    <a:latin typeface="fkGroteskNeue"/>
                  </a:rPr>
                  <a:t> = 0.011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en-US" b="0" i="0" dirty="0">
                    <a:effectLst/>
                    <a:latin typeface="fkGroteskNeue"/>
                  </a:rPr>
                  <a:t>,</a:t>
                </a:r>
                <a:r>
                  <a:rPr lang="ru-RU" b="0" i="0" dirty="0">
                    <a:effectLst/>
                    <a:latin typeface="fkGroteskNeue"/>
                  </a:rPr>
                  <a:t> </a:t>
                </a:r>
                <a:r>
                  <a:rPr lang="en-US" b="0" i="0" dirty="0">
                    <a:effectLst/>
                    <a:latin typeface="fkGroteskNeue"/>
                  </a:rPr>
                  <a:t>DPLL = 0.</a:t>
                </a:r>
                <a:r>
                  <a:rPr lang="ru-RU" b="0" i="0" dirty="0">
                    <a:effectLst/>
                    <a:latin typeface="fkGroteskNeue"/>
                  </a:rPr>
                  <a:t>130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ru-RU" b="0" i="0" dirty="0">
                    <a:effectLst/>
                    <a:latin typeface="fkGroteskNeue"/>
                  </a:rPr>
                  <a:t>, </a:t>
                </a:r>
                <a:r>
                  <a:rPr lang="en-US" b="0" i="0" dirty="0">
                    <a:effectLst/>
                    <a:latin typeface="fkGroteskNeue"/>
                  </a:rPr>
                  <a:t>CDCL = </a:t>
                </a:r>
                <a:r>
                  <a:rPr lang="ru-RU" b="0" i="0" dirty="0">
                    <a:effectLst/>
                    <a:latin typeface="fkGroteskNeue"/>
                  </a:rPr>
                  <a:t>0.250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en-US" dirty="0">
                    <a:latin typeface="fkGroteskNeue"/>
                  </a:rPr>
                  <a:t>, </a:t>
                </a:r>
                <a:r>
                  <a:rPr lang="ru-RU" b="0" i="0" dirty="0">
                    <a:effectLst/>
                    <a:latin typeface="fkGroteskNeue"/>
                  </a:rPr>
                  <a:t>Z3 = </a:t>
                </a:r>
                <a:r>
                  <a:rPr lang="en-US" b="0" i="0" dirty="0">
                    <a:effectLst/>
                    <a:latin typeface="fkGroteskNeue"/>
                  </a:rPr>
                  <a:t>0.0</a:t>
                </a:r>
                <a:r>
                  <a:rPr lang="ru-RU" b="0" i="0" dirty="0">
                    <a:effectLst/>
                    <a:latin typeface="fkGroteskNeue"/>
                  </a:rPr>
                  <a:t>59 </a:t>
                </a:r>
                <a:r>
                  <a:rPr lang="ru-RU" b="0" i="0" dirty="0" err="1">
                    <a:effectLst/>
                    <a:latin typeface="fkGroteskNeue"/>
                  </a:rPr>
                  <a:t>мс</a:t>
                </a:r>
                <a:r>
                  <a:rPr lang="ru-RU" b="0" i="0" dirty="0">
                    <a:effectLst/>
                    <a:latin typeface="fkGroteskNeue"/>
                  </a:rPr>
                  <a:t>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A858C-C156-B159-B6C9-F121B8D99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18718"/>
              </a:xfrm>
              <a:blipFill>
                <a:blip r:embed="rId2"/>
                <a:stretch>
                  <a:fillRect l="-1217" t="-211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A9B4D4-F583-4F00-82AF-F1312670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913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Ручное сравнение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Анализ показывает, что на малых входах </a:t>
            </a:r>
            <a:r>
              <a:rPr lang="ru-RU" b="0" i="0" dirty="0" err="1">
                <a:effectLst/>
                <a:latin typeface="fkGroteskNeue"/>
              </a:rPr>
              <a:t>брутфорс</a:t>
            </a:r>
            <a:r>
              <a:rPr lang="ru-RU" b="0" i="0" dirty="0">
                <a:effectLst/>
                <a:latin typeface="fkGroteskNeue"/>
              </a:rPr>
              <a:t> часто быстрее Z3 из-за накладных расходов инициализации Z3. </a:t>
            </a:r>
            <a:r>
              <a:rPr lang="en-US" b="0" i="0" dirty="0">
                <a:effectLst/>
                <a:latin typeface="fkGroteskNeue"/>
              </a:rPr>
              <a:t>DPLL </a:t>
            </a:r>
            <a:r>
              <a:rPr lang="ru-RU" b="0" i="0" dirty="0">
                <a:effectLst/>
                <a:latin typeface="fkGroteskNeue"/>
              </a:rPr>
              <a:t>и </a:t>
            </a:r>
            <a:r>
              <a:rPr lang="en-US" b="0" i="0" dirty="0">
                <a:effectLst/>
                <a:latin typeface="fkGroteskNeue"/>
              </a:rPr>
              <a:t>CDCL </a:t>
            </a:r>
            <a:r>
              <a:rPr lang="ru-RU" dirty="0">
                <a:latin typeface="fkGroteskNeue"/>
              </a:rPr>
              <a:t>«стабильны» и показывают близкое друг к другу время.</a:t>
            </a:r>
            <a:endParaRPr lang="ru-RU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Наблюдается высокая вариативность Z3, что объясняется сложностью конкретной формулы и эффективностью применяемых эвристик.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B48195-C63F-4F12-A718-4C6E8398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90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Автоматическое сравнение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Основной набор экспериментов включал бенчмарки на формулах с числом переменных от 2 до </a:t>
            </a:r>
            <a:r>
              <a:rPr lang="en-US" b="0" i="0" dirty="0">
                <a:effectLst/>
                <a:latin typeface="fkGroteskNeue"/>
              </a:rPr>
              <a:t>100</a:t>
            </a:r>
            <a:r>
              <a:rPr lang="ru-RU" b="0" i="0" dirty="0">
                <a:effectLst/>
                <a:latin typeface="fkGroteskNeue"/>
              </a:rPr>
              <a:t>. Результаты (средние значения из </a:t>
            </a:r>
            <a:r>
              <a:rPr lang="en-US" b="0" i="0" dirty="0">
                <a:effectLst/>
                <a:latin typeface="fkGroteskNeue"/>
              </a:rPr>
              <a:t>5</a:t>
            </a:r>
            <a:r>
              <a:rPr lang="ru-RU" b="0" i="0" dirty="0">
                <a:effectLst/>
                <a:latin typeface="fkGroteskNeue"/>
              </a:rPr>
              <a:t> проходов): </a:t>
            </a:r>
          </a:p>
          <a:p>
            <a:pPr marL="0" indent="0">
              <a:buNone/>
            </a:pPr>
            <a:endParaRPr lang="ru-RU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A2F1F-0D0F-4B1E-9DF2-007B1B92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21</a:t>
            </a:fld>
            <a:endParaRPr lang="ru-RU"/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6D2B0336-6D32-4E1A-8814-FB60900DC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469005"/>
              </p:ext>
            </p:extLst>
          </p:nvPr>
        </p:nvGraphicFramePr>
        <p:xfrm>
          <a:off x="2124527" y="3206612"/>
          <a:ext cx="812800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734306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860383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71180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275062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50096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Bruteforce</a:t>
                      </a:r>
                      <a:r>
                        <a:rPr lang="en-US" dirty="0"/>
                        <a:t>, </a:t>
                      </a:r>
                      <a:r>
                        <a:rPr lang="ru-RU" dirty="0" err="1"/>
                        <a:t>мс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DPLL, </a:t>
                      </a:r>
                      <a:r>
                        <a:rPr lang="ru-RU" dirty="0" err="1"/>
                        <a:t>мс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CDCL</a:t>
                      </a:r>
                      <a:r>
                        <a:rPr lang="ru-RU" dirty="0"/>
                        <a:t>, </a:t>
                      </a:r>
                      <a:r>
                        <a:rPr lang="ru-RU" dirty="0" err="1"/>
                        <a:t>мс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Z3</a:t>
                      </a:r>
                      <a:r>
                        <a:rPr lang="ru-RU" dirty="0"/>
                        <a:t>, </a:t>
                      </a:r>
                      <a:r>
                        <a:rPr lang="ru-RU" dirty="0" err="1"/>
                        <a:t>мс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52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0.538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0.294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48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1.447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3.317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6.142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7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6.424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1.911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2.935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846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9175.2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82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347.0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0.469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978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658.1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987.7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0.477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4248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1F0687-91F4-404D-B4A0-F1C0F6C92EC9}"/>
              </a:ext>
            </a:extLst>
          </p:cNvPr>
          <p:cNvSpPr txBox="1"/>
          <p:nvPr/>
        </p:nvSpPr>
        <p:spPr>
          <a:xfrm>
            <a:off x="838200" y="5986019"/>
            <a:ext cx="788469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dirty="0">
                <a:latin typeface="fkGroteskNeue"/>
                <a:hlinkClick r:id="rId2"/>
              </a:rPr>
              <a:t>Полная таблица</a:t>
            </a:r>
            <a:endParaRPr lang="ru-RU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262261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Автоматическое сравнение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b="0" i="0" dirty="0">
              <a:effectLst/>
              <a:latin typeface="fkGroteskNeue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Анализ данных выявляет критическую точку между n=</a:t>
            </a:r>
            <a:r>
              <a:rPr lang="en-US" b="0" i="0" dirty="0">
                <a:effectLst/>
                <a:latin typeface="fkGroteskNeue"/>
              </a:rPr>
              <a:t>10</a:t>
            </a:r>
            <a:r>
              <a:rPr lang="ru-RU" b="0" i="0" dirty="0">
                <a:effectLst/>
                <a:latin typeface="fkGroteskNeue"/>
              </a:rPr>
              <a:t> и n=1</a:t>
            </a:r>
            <a:r>
              <a:rPr lang="en-US" b="0" i="0" dirty="0">
                <a:effectLst/>
                <a:latin typeface="fkGroteskNeue"/>
              </a:rPr>
              <a:t>2</a:t>
            </a:r>
            <a:r>
              <a:rPr lang="ru-RU" b="0" i="0" dirty="0">
                <a:effectLst/>
                <a:latin typeface="fkGroteskNeue"/>
              </a:rPr>
              <a:t>, где </a:t>
            </a:r>
            <a:r>
              <a:rPr lang="ru-RU" b="0" i="0" dirty="0" err="1">
                <a:effectLst/>
                <a:latin typeface="fkGroteskNeue"/>
              </a:rPr>
              <a:t>брутфорс</a:t>
            </a:r>
            <a:r>
              <a:rPr lang="ru-RU" b="0" i="0" dirty="0">
                <a:effectLst/>
                <a:latin typeface="fkGroteskNeue"/>
              </a:rPr>
              <a:t> начинает демонстрировать экспоненциальный рост временной сложности, соответствующий предсказанной теоретической O(2ⁿ) сложности.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На n=2</a:t>
            </a:r>
            <a:r>
              <a:rPr lang="en-US" b="0" i="0" dirty="0">
                <a:effectLst/>
                <a:latin typeface="fkGroteskNeue"/>
              </a:rPr>
              <a:t>2</a:t>
            </a:r>
            <a:r>
              <a:rPr lang="ru-RU" b="0" i="0" dirty="0">
                <a:effectLst/>
                <a:latin typeface="fkGroteskNeue"/>
              </a:rPr>
              <a:t> Z3 превосходит </a:t>
            </a:r>
            <a:r>
              <a:rPr lang="ru-RU" b="0" i="0" dirty="0" err="1">
                <a:effectLst/>
                <a:latin typeface="fkGroteskNeue"/>
              </a:rPr>
              <a:t>брутфорс</a:t>
            </a:r>
            <a:r>
              <a:rPr lang="ru-RU" b="0" i="0" dirty="0">
                <a:effectLst/>
                <a:latin typeface="fkGroteskNeue"/>
              </a:rPr>
              <a:t> в </a:t>
            </a:r>
            <a:r>
              <a:rPr lang="ru-RU" dirty="0">
                <a:latin typeface="fkGroteskNeue"/>
              </a:rPr>
              <a:t>тысячи</a:t>
            </a:r>
            <a:r>
              <a:rPr lang="ru-RU" b="0" i="0" dirty="0">
                <a:effectLst/>
                <a:latin typeface="fkGroteskNeue"/>
              </a:rPr>
              <a:t> раз. Z3 демонстрирует практически константное время выполнения (0.2-0.4 мс) независимо от n.</a:t>
            </a:r>
          </a:p>
          <a:p>
            <a:pPr marL="0" indent="0">
              <a:buNone/>
            </a:pPr>
            <a:r>
              <a:rPr lang="ru-RU" dirty="0">
                <a:latin typeface="fkGroteskNeue"/>
              </a:rPr>
              <a:t>Учебные версии </a:t>
            </a:r>
            <a:r>
              <a:rPr lang="en-US" dirty="0">
                <a:latin typeface="fkGroteskNeue"/>
              </a:rPr>
              <a:t>DPLL </a:t>
            </a:r>
            <a:r>
              <a:rPr lang="ru-RU" dirty="0">
                <a:latin typeface="fkGroteskNeue"/>
              </a:rPr>
              <a:t>и </a:t>
            </a:r>
            <a:r>
              <a:rPr lang="en-US" dirty="0">
                <a:latin typeface="fkGroteskNeue"/>
              </a:rPr>
              <a:t>CDCL </a:t>
            </a:r>
            <a:r>
              <a:rPr lang="ru-RU" dirty="0">
                <a:latin typeface="fkGroteskNeue"/>
              </a:rPr>
              <a:t>также демонстрируют отличное время, но заметен рост времени с ростом </a:t>
            </a:r>
            <a:r>
              <a:rPr lang="en-US" dirty="0">
                <a:latin typeface="fkGroteskNeue"/>
              </a:rPr>
              <a:t>n.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B91326-A240-4ECF-862C-8E973625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96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График сравнения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1A45A6-5423-3701-984B-3E74D0929A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8"/>
          <a:stretch/>
        </p:blipFill>
        <p:spPr>
          <a:xfrm>
            <a:off x="2283292" y="1395663"/>
            <a:ext cx="7625416" cy="43008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A32219-7E12-F0D8-E972-007704B22F27}"/>
              </a:ext>
            </a:extLst>
          </p:cNvPr>
          <p:cNvSpPr txBox="1"/>
          <p:nvPr/>
        </p:nvSpPr>
        <p:spPr>
          <a:xfrm>
            <a:off x="1651905" y="5696496"/>
            <a:ext cx="9073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График зависимости времени выполнения от числа </a:t>
            </a:r>
            <a:r>
              <a:rPr lang="ru-RU" sz="2000" dirty="0" err="1"/>
              <a:t>входовых</a:t>
            </a:r>
            <a:r>
              <a:rPr lang="ru-RU" sz="2000" dirty="0"/>
              <a:t> переменных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AB321F-351E-47DB-82CC-C73189F1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95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Анализ графика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Визуализация результатов на графике с логарифмической шкалой времени выявляет контрастные характеристики </a:t>
            </a:r>
            <a:r>
              <a:rPr lang="ru-RU" dirty="0">
                <a:latin typeface="fkGroteskNeue"/>
              </a:rPr>
              <a:t>четырёх </a:t>
            </a:r>
            <a:r>
              <a:rPr lang="ru-RU" b="0" i="0" dirty="0">
                <a:effectLst/>
                <a:latin typeface="fkGroteskNeue"/>
              </a:rPr>
              <a:t>подходов.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Кривая </a:t>
            </a:r>
            <a:r>
              <a:rPr lang="ru-RU" b="0" i="0" dirty="0" err="1">
                <a:effectLst/>
                <a:latin typeface="fkGroteskNeue"/>
              </a:rPr>
              <a:t>brute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force</a:t>
            </a:r>
            <a:r>
              <a:rPr lang="ru-RU" b="0" i="0" dirty="0">
                <a:effectLst/>
                <a:latin typeface="fkGroteskNeue"/>
              </a:rPr>
              <a:t> демонстрирует характерный для O(2ⁿ) функции вид: резкое экспоненциальное возрастание.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Кривая Z3 проявляет </a:t>
            </a:r>
            <a:r>
              <a:rPr lang="ru-RU" b="0" i="0" dirty="0" err="1">
                <a:effectLst/>
                <a:latin typeface="fkGroteskNeue"/>
              </a:rPr>
              <a:t>субэкспоненциальное</a:t>
            </a:r>
            <a:r>
              <a:rPr lang="ru-RU" b="0" i="0" dirty="0">
                <a:effectLst/>
                <a:latin typeface="fkGroteskNeue"/>
              </a:rPr>
              <a:t> поведение: практически горизонтальная на всём диапазоне с малой вариативностью.</a:t>
            </a:r>
          </a:p>
          <a:p>
            <a:pPr marL="0" indent="0">
              <a:buNone/>
            </a:pPr>
            <a:r>
              <a:rPr lang="ru-RU" dirty="0">
                <a:latin typeface="fkGroteskNeue"/>
              </a:rPr>
              <a:t>Учебные </a:t>
            </a:r>
            <a:r>
              <a:rPr lang="en-US" dirty="0">
                <a:latin typeface="fkGroteskNeue"/>
              </a:rPr>
              <a:t>DPLL </a:t>
            </a:r>
            <a:r>
              <a:rPr lang="ru-RU" dirty="0">
                <a:latin typeface="fkGroteskNeue"/>
              </a:rPr>
              <a:t>и </a:t>
            </a:r>
            <a:r>
              <a:rPr lang="en-US" dirty="0">
                <a:latin typeface="fkGroteskNeue"/>
              </a:rPr>
              <a:t>CDCL </a:t>
            </a:r>
            <a:r>
              <a:rPr lang="ru-RU" dirty="0">
                <a:latin typeface="fkGroteskNeue"/>
              </a:rPr>
              <a:t>растут с небольшой скоростью.</a:t>
            </a:r>
            <a:endParaRPr lang="ru-RU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DBAE94-8F3E-4894-96DC-F958E6CC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134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Анализ графика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Это графически демонстрирует качественное различие между подходами: полный перебор </a:t>
            </a:r>
            <a:r>
              <a:rPr lang="ru-RU" b="0" i="0" dirty="0" err="1">
                <a:effectLst/>
                <a:latin typeface="fkGroteskNeue"/>
              </a:rPr>
              <a:t>экспоненциален</a:t>
            </a:r>
            <a:r>
              <a:rPr lang="ru-RU" b="0" i="0" dirty="0">
                <a:effectLst/>
                <a:latin typeface="fkGroteskNeue"/>
              </a:rPr>
              <a:t> по определению, тогда как </a:t>
            </a:r>
            <a:r>
              <a:rPr lang="en-US" dirty="0">
                <a:latin typeface="fkGroteskNeue"/>
              </a:rPr>
              <a:t>Z3</a:t>
            </a:r>
            <a:r>
              <a:rPr lang="ru-RU" b="0" i="0" dirty="0">
                <a:effectLst/>
                <a:latin typeface="fkGroteskNeue"/>
              </a:rPr>
              <a:t> показывает практическую нечувствительность к размеру входа на экземплярах со структурой.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Область пересечения кривых находится при n ≈ 10-12 переменных, что соответствует точке уравновешивания накладных расходов Z3 и превосходства эффективности алгоритма при возрастании сложности.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41CAD4-49F3-4705-BA4A-012A355B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798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Применение </a:t>
            </a:r>
            <a:r>
              <a:rPr lang="en-US" dirty="0">
                <a:solidFill>
                  <a:schemeClr val="bg1"/>
                </a:solidFill>
              </a:rPr>
              <a:t>SAT-</a:t>
            </a:r>
            <a:r>
              <a:rPr lang="ru-RU" dirty="0">
                <a:solidFill>
                  <a:schemeClr val="bg1"/>
                </a:solidFill>
              </a:rPr>
              <a:t>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SAT-решатели используются в критических приложениях современной цифровой индустрии: 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Верификация аппаратуры (</a:t>
            </a:r>
            <a:r>
              <a:rPr lang="ru-RU" b="0" i="0" dirty="0" err="1">
                <a:effectLst/>
                <a:latin typeface="fkGroteskNeue"/>
              </a:rPr>
              <a:t>Hardware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Verification</a:t>
            </a:r>
            <a:r>
              <a:rPr lang="ru-RU" b="0" i="0" dirty="0">
                <a:effectLst/>
                <a:latin typeface="fkGroteskNeue"/>
              </a:rPr>
              <a:t>) — SAT является основным инструментом при проверке эквивалентности схем (</a:t>
            </a:r>
            <a:r>
              <a:rPr lang="ru-RU" b="0" i="0" dirty="0" err="1">
                <a:effectLst/>
                <a:latin typeface="fkGroteskNeue"/>
              </a:rPr>
              <a:t>Equivalence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Checking</a:t>
            </a:r>
            <a:r>
              <a:rPr lang="ru-RU" b="0" i="0" dirty="0">
                <a:effectLst/>
                <a:latin typeface="fkGroteskNeue"/>
              </a:rPr>
              <a:t>) в процессе проектирования СБИС, что обеспечивает корректность микропроцессоров и других цифровых систем;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Формальная верификация программного обеспечения (Model </a:t>
            </a:r>
            <a:r>
              <a:rPr lang="ru-RU" b="0" i="0" dirty="0" err="1">
                <a:effectLst/>
                <a:latin typeface="fkGroteskNeue"/>
              </a:rPr>
              <a:t>Checking</a:t>
            </a:r>
            <a:r>
              <a:rPr lang="ru-RU" b="0" i="0" dirty="0">
                <a:effectLst/>
                <a:latin typeface="fkGroteskNeue"/>
              </a:rPr>
              <a:t>) — использование SAT для автоматической проверки моделей систем против спецификаций безопасности;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CEFF7A-0248-41B7-B2F6-FAE6D76E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331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Применение </a:t>
            </a:r>
            <a:r>
              <a:rPr lang="en-US" dirty="0">
                <a:solidFill>
                  <a:schemeClr val="bg1"/>
                </a:solidFill>
              </a:rPr>
              <a:t>SAT-</a:t>
            </a:r>
            <a:r>
              <a:rPr lang="ru-RU" dirty="0">
                <a:solidFill>
                  <a:schemeClr val="bg1"/>
                </a:solidFill>
              </a:rPr>
              <a:t>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(</a:t>
            </a:r>
            <a:r>
              <a:rPr lang="ru-RU" b="0" i="0" dirty="0">
                <a:effectLst/>
                <a:latin typeface="fkGroteskNeue"/>
              </a:rPr>
              <a:t>3) Оптимизация и планирование — решение задач удовлетворения ограничений (CSP) при планировании производства, составлении расписаний, размещении ресурсов;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(4) Криптографический анализ — использование SAT-решателей для анализа криптографических примитивов, поиска коллизий, обнаружения уязвимостей;</a:t>
            </a:r>
          </a:p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(</a:t>
            </a:r>
            <a:r>
              <a:rPr lang="ru-RU" b="0" i="0" dirty="0">
                <a:effectLst/>
                <a:latin typeface="fkGroteskNeue"/>
              </a:rPr>
              <a:t>5) Синтез программ — автоматическое синтезирование кода, удовлетворяющего заданным спецификациям посредством </a:t>
            </a:r>
            <a:r>
              <a:rPr lang="ru-RU" b="0" i="0">
                <a:effectLst/>
                <a:latin typeface="fkGroteskNeue"/>
              </a:rPr>
              <a:t>SAT-редукции.</a:t>
            </a:r>
          </a:p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Глобальный </a:t>
            </a:r>
            <a:r>
              <a:rPr lang="ru-RU" b="0" i="0" dirty="0">
                <a:effectLst/>
                <a:latin typeface="fkGroteskNeue"/>
              </a:rPr>
              <a:t>рынок средств верификации аппаратуры, опирающихся на SAT-технологию, оценивается в миллиарды долларов, что подтверждает критическую значимость этой технологии.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B199B2-C158-49A4-9EDA-5B2D84B2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097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Ограничения и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Несмотря на значительные успехи, CDCL-решатели сталкиваются с рядом трудностей: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Масштабируемость на очень большие экземпляры — формулы с сотнями тысяч клауз остаются вызовом, требуя часов вычисления;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Зависимость от структуры экземпляра — случайные формулы часто решаются быстро, тогда как структурированные экземпляры (возникающие из реальных приложений) могут демонстрировать непредсказуемо долгое время решения;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(3) Качество эвристик выбора переменной — неправильный выбор эвристики может замедлить алгоритм в 1000 раз;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414503-E004-4E28-992E-24EBE48E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502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Ограничения и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(</a:t>
            </a:r>
            <a:r>
              <a:rPr lang="ru-RU" b="0" i="0" dirty="0">
                <a:effectLst/>
                <a:latin typeface="fkGroteskNeue"/>
              </a:rPr>
              <a:t>4) Фазовые переходы — для некоторого класса случайных формул наблюдается резкий переход от простого к сложному при определённом соотношении клауз к переменным, создающий "пиковую сложность";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(5) Проблема несбалансированного поиска — алгоритм может зависнуть в неудачной ветви, несмотря на наличие других решающих </a:t>
            </a:r>
            <a:r>
              <a:rPr lang="ru-RU" b="0" i="0">
                <a:effectLst/>
                <a:latin typeface="fkGroteskNeue"/>
              </a:rPr>
              <a:t>путей.</a:t>
            </a:r>
          </a:p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Указанные </a:t>
            </a:r>
            <a:r>
              <a:rPr lang="ru-RU" b="0" i="0" dirty="0">
                <a:effectLst/>
                <a:latin typeface="fkGroteskNeue"/>
              </a:rPr>
              <a:t>ограничения остаются активной областью исследований, включая разработку адаптивных эвристик, параллельных SAT-решателей и гибридных подходов.</a:t>
            </a:r>
          </a:p>
          <a:p>
            <a:pPr marL="0" indent="0">
              <a:buNone/>
            </a:pPr>
            <a:endParaRPr lang="ru-RU" b="0" i="0" dirty="0">
              <a:effectLst/>
              <a:latin typeface="fkGroteskNeue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A37503-CBE7-44C8-BDE3-BE11EC2C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365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Проведённое исследование подтвердило следующие ключевые положения: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(1) Проблема SAT остаётся NP-полной, и методы полного перебора </a:t>
            </a:r>
            <a:r>
              <a:rPr lang="ru-RU" b="0" i="0" dirty="0" err="1">
                <a:effectLst/>
                <a:latin typeface="fkGroteskNeue"/>
              </a:rPr>
              <a:t>экспоненциальны</a:t>
            </a:r>
            <a:r>
              <a:rPr lang="ru-RU" b="0" i="0" dirty="0">
                <a:effectLst/>
                <a:latin typeface="fkGroteskNeue"/>
              </a:rPr>
              <a:t> по определению, практически применимы только для n ≤ 25 переменных;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(2) Алгоритм DPLL, базирующийся на </a:t>
            </a:r>
            <a:r>
              <a:rPr lang="ru-RU" b="0" i="0" dirty="0" err="1">
                <a:effectLst/>
                <a:latin typeface="fkGroteskNeue"/>
              </a:rPr>
              <a:t>unit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propagation</a:t>
            </a:r>
            <a:r>
              <a:rPr lang="ru-RU" b="0" i="0" dirty="0">
                <a:effectLst/>
                <a:latin typeface="fkGroteskNeue"/>
              </a:rPr>
              <a:t> и </a:t>
            </a:r>
            <a:r>
              <a:rPr lang="ru-RU" b="0" i="0" dirty="0" err="1">
                <a:effectLst/>
                <a:latin typeface="fkGroteskNeue"/>
              </a:rPr>
              <a:t>backtracking</a:t>
            </a:r>
            <a:r>
              <a:rPr lang="ru-RU" b="0" i="0" dirty="0">
                <a:effectLst/>
                <a:latin typeface="fkGroteskNeue"/>
              </a:rPr>
              <a:t>, обеспечивает значительное сокращение пространства поиска по сравнению с полным перебором, но не использует информацию из конфликтов;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3094D7-4AAE-40FD-B102-287EFB92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53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(3) Алгоритм CDCL, расширяющий DPLL посредством </a:t>
            </a:r>
            <a:r>
              <a:rPr lang="ru-RU" b="0" i="0" dirty="0" err="1">
                <a:effectLst/>
                <a:latin typeface="fkGroteskNeue"/>
              </a:rPr>
              <a:t>clause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learning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ru-RU" b="0" i="0" dirty="0" err="1">
                <a:effectLst/>
                <a:latin typeface="fkGroteskNeue"/>
              </a:rPr>
              <a:t>non-chronological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 err="1">
                <a:effectLst/>
                <a:latin typeface="fkGroteskNeue"/>
              </a:rPr>
              <a:t>backtracking</a:t>
            </a:r>
            <a:r>
              <a:rPr lang="ru-RU" b="0" i="0" dirty="0">
                <a:effectLst/>
                <a:latin typeface="fkGroteskNeue"/>
              </a:rPr>
              <a:t> и интеллектуальных эвристик, достигает практических решений задач со сложностью, казалось бы, непреодолимой для методов полного перебора;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(4) Z3 SMT-решатель, реализующий CDCL с многочисленными оптимизациями, демонстрирует ускорение на 100-400 раз по сравнению с </a:t>
            </a:r>
            <a:r>
              <a:rPr lang="ru-RU" b="0" i="0" dirty="0" err="1">
                <a:effectLst/>
                <a:latin typeface="fkGroteskNeue"/>
              </a:rPr>
              <a:t>брутфорсом</a:t>
            </a:r>
            <a:r>
              <a:rPr lang="ru-RU" b="0" i="0" dirty="0">
                <a:effectLst/>
                <a:latin typeface="fkGroteskNeue"/>
              </a:rPr>
              <a:t> на формулах масштаба 20-25 переменных;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CA31E-91E0-4F72-9FE1-3F817153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044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(</a:t>
            </a:r>
            <a:r>
              <a:rPr lang="ru-RU" b="0" i="0" dirty="0">
                <a:effectLst/>
                <a:latin typeface="fkGroteskNeue"/>
              </a:rPr>
              <a:t>5) SAT-технология является критической инфраструктурой для верификации аппаратуры, тестирования ПО и множества других приложений в современной цифровой индустрии</a:t>
            </a:r>
          </a:p>
          <a:p>
            <a:pPr marL="0" indent="0">
              <a:buNone/>
            </a:pPr>
            <a:r>
              <a:rPr lang="ru-RU" b="0" i="0">
                <a:effectLst/>
                <a:latin typeface="fkGroteskNeue"/>
              </a:rPr>
              <a:t>Результаты </a:t>
            </a:r>
            <a:r>
              <a:rPr lang="ru-RU" b="0" i="0" dirty="0">
                <a:effectLst/>
                <a:latin typeface="fkGroteskNeue"/>
              </a:rPr>
              <a:t>подтверждают гипотезу о том, что интеллектуальные алгоритмические подходы преодолевают теоретические барьеры экспоненциальной сложности и обеспечивают практическую разрешимость задач, неразрешимых наивными методами.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EA3F5C-1A10-4333-BB12-4ED8F6BC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149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A5064-666A-7555-7357-0F8EFD66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0"/>
            <a:ext cx="12006943" cy="919842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Роли в команде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A858C-C156-B159-B6C9-F121B8D9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1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Барченков П.А. — Главы 1,2, управление проектом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Лебедев И.А. — разработка программного комплекса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fkGroteskNeue"/>
              </a:rPr>
              <a:t>Шарапов И.Д. — тестирование ПК, Глава 3, презентация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9FC68C-42E9-4D87-ADC9-79020943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E35-B303-42FD-88A6-20A8D5E4F372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197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</TotalTime>
  <Words>2581</Words>
  <Application>Microsoft Office PowerPoint</Application>
  <PresentationFormat>Широкоэкранный</PresentationFormat>
  <Paragraphs>190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fkGroteskNeue</vt:lpstr>
      <vt:lpstr>Office Theme</vt:lpstr>
      <vt:lpstr>Применение SAT-решателей для верификации комбинационных схем</vt:lpstr>
      <vt:lpstr>Введение</vt:lpstr>
      <vt:lpstr>Цель исследования</vt:lpstr>
      <vt:lpstr>Суть проблемы</vt:lpstr>
      <vt:lpstr>Суть проблемы</vt:lpstr>
      <vt:lpstr>Математические Основы</vt:lpstr>
      <vt:lpstr>Ограничения полного перебора</vt:lpstr>
      <vt:lpstr>SAT-редукция</vt:lpstr>
      <vt:lpstr>Алгоритм DPLL</vt:lpstr>
      <vt:lpstr>Алгоритм DPLL</vt:lpstr>
      <vt:lpstr>Алгоритм CDCL</vt:lpstr>
      <vt:lpstr>Алгоритм CDCL</vt:lpstr>
      <vt:lpstr>Z3 решатель</vt:lpstr>
      <vt:lpstr>AST</vt:lpstr>
      <vt:lpstr>Полный перебор</vt:lpstr>
      <vt:lpstr>Полный перебор</vt:lpstr>
      <vt:lpstr>Использование Z3</vt:lpstr>
      <vt:lpstr>Использование Z3</vt:lpstr>
      <vt:lpstr>Ручное сравнение</vt:lpstr>
      <vt:lpstr>Ручное сравнение</vt:lpstr>
      <vt:lpstr>Автоматическое сравнение</vt:lpstr>
      <vt:lpstr>Автоматическое сравнение</vt:lpstr>
      <vt:lpstr>График сравнения</vt:lpstr>
      <vt:lpstr>Анализ графика</vt:lpstr>
      <vt:lpstr>Анализ графика</vt:lpstr>
      <vt:lpstr>Применение SAT-технологий</vt:lpstr>
      <vt:lpstr>Применение SAT-технологий</vt:lpstr>
      <vt:lpstr>Ограничения и проблемы</vt:lpstr>
      <vt:lpstr>Ограничения и проблемы</vt:lpstr>
      <vt:lpstr>Выводы</vt:lpstr>
      <vt:lpstr>Выводы</vt:lpstr>
      <vt:lpstr>Выводы</vt:lpstr>
      <vt:lpstr>Роли в команде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Применение SAT-решателей для верификации комбинационных схем</dc:title>
  <dc:creator>Иван Шарапов</dc:creator>
  <cp:lastModifiedBy>Иван Шарапов</cp:lastModifiedBy>
  <cp:revision>30</cp:revision>
  <cp:lastPrinted>2025-12-23T17:01:37Z</cp:lastPrinted>
  <dcterms:created xsi:type="dcterms:W3CDTF">2025-12-23T16:14:15Z</dcterms:created>
  <dcterms:modified xsi:type="dcterms:W3CDTF">2026-01-08T17:26:51Z</dcterms:modified>
</cp:coreProperties>
</file>