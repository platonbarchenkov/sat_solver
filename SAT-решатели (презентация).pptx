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sldIdLst>
    <p:sldId id="256" r:id="rId2"/>
    <p:sldId id="257" r:id="rId3"/>
    <p:sldId id="259" r:id="rId4"/>
    <p:sldId id="258" r:id="rId5"/>
    <p:sldId id="260" r:id="rId6"/>
    <p:sldId id="261" r:id="rId7"/>
    <p:sldId id="295" r:id="rId8"/>
    <p:sldId id="301" r:id="rId9"/>
    <p:sldId id="302" r:id="rId10"/>
    <p:sldId id="262" r:id="rId11"/>
    <p:sldId id="264" r:id="rId12"/>
    <p:sldId id="265" r:id="rId13"/>
    <p:sldId id="267" r:id="rId14"/>
    <p:sldId id="268" r:id="rId15"/>
    <p:sldId id="269" r:id="rId16"/>
    <p:sldId id="293" r:id="rId17"/>
    <p:sldId id="292" r:id="rId18"/>
    <p:sldId id="296" r:id="rId19"/>
    <p:sldId id="273" r:id="rId20"/>
    <p:sldId id="274" r:id="rId21"/>
    <p:sldId id="294" r:id="rId22"/>
    <p:sldId id="276" r:id="rId23"/>
    <p:sldId id="297" r:id="rId24"/>
    <p:sldId id="299" r:id="rId25"/>
    <p:sldId id="298" r:id="rId26"/>
    <p:sldId id="300" r:id="rId27"/>
    <p:sldId id="277" r:id="rId28"/>
    <p:sldId id="278" r:id="rId29"/>
    <p:sldId id="279" r:id="rId30"/>
    <p:sldId id="280" r:id="rId31"/>
    <p:sldId id="281" r:id="rId32"/>
    <p:sldId id="303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1" r:id="rId42"/>
    <p:sldId id="290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Иван Шарапов" initials="ИШ" lastIdx="1" clrIdx="0">
    <p:extLst>
      <p:ext uri="{19B8F6BF-5375-455C-9EA6-DF929625EA0E}">
        <p15:presenceInfo xmlns:p15="http://schemas.microsoft.com/office/powerpoint/2012/main" userId="1c99e477910ce57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34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CC9F5-884F-49E5-B517-9E8FA7861F61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B54255-CD34-44F6-A681-AB4C19756A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7043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DC980-0D23-43BB-A63D-56EA25751E22}" type="datetime1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2634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71A22-D42E-48D0-B1EB-6892DBED9C56}" type="datetime1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0650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D7171-AC31-463F-8826-96FEC8E67E89}" type="datetime1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1300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178B0-B191-4CA8-A160-1541DB9A6C24}" type="datetime1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591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2932A-EC0D-4F11-89AA-A0E1CA5C3E2B}" type="datetime1">
              <a:rPr lang="ru-RU" smtClean="0"/>
              <a:t>10.01.2026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4471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57ABA-A7EE-4550-8639-D4A488B95078}" type="datetime1">
              <a:rPr lang="ru-RU" smtClean="0"/>
              <a:t>10.01.2026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734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34CC7-46C4-4103-B06C-B49D2A297761}" type="datetime1">
              <a:rPr lang="ru-RU" smtClean="0"/>
              <a:t>10.01.2026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69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38EE-DC73-4007-AA63-1E959F10CF99}" type="datetime1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733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0D20A-60A2-4F74-B982-667F8D4AF630}" type="datetime1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732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15FF3-9884-4E00-9FC8-FC2FD387C6D9}" type="datetime1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7883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A60C8-0F3A-4141-9ED5-D0A4E82A6F06}" type="datetime1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173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1BF9C1-DB9B-4141-BFA9-B42D79F508B1}" type="datetime1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8478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latonBarchenkov/SAT_Solver/blob/master/benchmark_results.csv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B648A7-B845-6B8F-28F2-2216AA938C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Применение SAT-решателей для верификации комбинационных схем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8E1C7D-991C-E978-2819-AC63592A05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181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Выполнили студенты группы 3312:</a:t>
            </a:r>
          </a:p>
          <a:p>
            <a:r>
              <a:rPr lang="ru-RU" dirty="0"/>
              <a:t>Барченков Платон Алексеевич</a:t>
            </a:r>
          </a:p>
          <a:p>
            <a:r>
              <a:rPr lang="ru-RU" dirty="0"/>
              <a:t>Лебедев Игнат Артемович</a:t>
            </a:r>
          </a:p>
          <a:p>
            <a:r>
              <a:rPr lang="ru-RU" dirty="0"/>
              <a:t>Шарапов Иван Денисович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1C32449-B853-470B-8DFB-2D6497745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07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проверки выполнимости булевых формул (SAT) представляет собой одну из фундаментальных NP-полных (полный перебор). Несмотря на отсутствие известных полиномиальных алгоритмов решения в общем случае, современные SAT-решатели, основанные на алгоритме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Learning), демонстрируют эффективное решение формул с сотнями и тысячами переменных. 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8DFCAB0-9277-439D-8D0D-D5EA5B4F4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9214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Цель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Реализовать верификацию схемы с использованием Z3 или </a:t>
            </a:r>
            <a:r>
              <a:rPr lang="ru-RU" b="0" i="0" dirty="0" err="1">
                <a:effectLst/>
                <a:latin typeface="fkGroteskNeue"/>
              </a:rPr>
              <a:t>MiniSat</a:t>
            </a:r>
            <a:r>
              <a:rPr lang="ru-RU" b="0" i="0" dirty="0">
                <a:effectLst/>
                <a:latin typeface="fkGroteskNeue"/>
              </a:rPr>
              <a:t> и сравнить с традиционными методами.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48999C-A15F-4A53-8E5B-4B51C3C6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9842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формулируется следующим образом: дана булева формула F, составленная из пропозициональных переменных, логических операторов (конъюнкция, дизъюнкция, отрицание) и скобок. Требуется определить, существует ли такое назначение значений всем переменным из множества {0,1}, при котором формула F принимает значение истинно (1). Если такое назначение существует, формула называется выполнимой (SAT); в противном случае — невыполнимой (UNSAT).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265271-A918-4D03-954F-8176C2A4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6072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является первой NP-полной задачей, доказанной Стивеном Куком в 1971 году (теорема Кука). Хотя в худшем случае проблема требует экспоненциального времени вычисления O(2^n), где n — число переменных, эмпирические исследования показывают, что для большинства практических экземпляров современные SAT-решатели находят решение значительно быстрее.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53BA7F9-A899-4BF3-834E-B15ECDB8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6567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Математические основы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Булева переменная принимает значения из множества {0, 1}. Литерал — это либо переменная x, либо её отрицание ¬x. Клауза представляет собой дизъюнкцию литералов: (l₁ ∨ l₂ ∨ ... ∨ lₖ). Конъюнктивная Нормальная Форма (КНФ) — это конъюнкция клауз: (C₁ ∧ C₂ ∧ ... ∧ Cₘ).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Основные логические операции определяются таблицами истинности: конъюнкция (AND), дизъюнкция (OR) и отрицание (NOT).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Формальное определение выполнимости: формула F называется выполнимой, если существует интерпретация I: F → {0, 1}, такая что F(I) = 1.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CDF7197-9710-4F65-AA4A-E4BA8225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320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Математические основы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КНФ является стандартным представлением для входных данных SAT-решателей, поскольку она позволяет эффективно применять методы, основанные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resolution</a:t>
            </a:r>
            <a:r>
              <a:rPr lang="ru-RU" b="0" i="0" dirty="0">
                <a:effectLst/>
                <a:latin typeface="fkGroteskNeue"/>
              </a:rPr>
              <a:t>. Любая булева формула может быть преобразована в эквивалентную КНФ-формулу посредством распределительного закона, хотя это преобразование может экспоненциально увеличить размер формулы.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В нашей работе используется преобразование </a:t>
            </a:r>
            <a:r>
              <a:rPr lang="ru-RU" dirty="0" err="1">
                <a:latin typeface="fkGroteskNeue"/>
              </a:rPr>
              <a:t>Цейтина</a:t>
            </a:r>
            <a:r>
              <a:rPr lang="ru-RU" dirty="0">
                <a:latin typeface="fkGroteskNeue"/>
              </a:rPr>
              <a:t> (</a:t>
            </a:r>
            <a:r>
              <a:rPr lang="en-US" dirty="0" err="1">
                <a:latin typeface="fkGroteskNeue"/>
              </a:rPr>
              <a:t>Tseitin</a:t>
            </a:r>
            <a:r>
              <a:rPr lang="en-US" dirty="0">
                <a:latin typeface="fkGroteskNeue"/>
              </a:rPr>
              <a:t> transformation</a:t>
            </a:r>
            <a:r>
              <a:rPr lang="ru-RU" dirty="0">
                <a:latin typeface="fkGroteskNeue"/>
              </a:rPr>
              <a:t>). </a:t>
            </a:r>
            <a:r>
              <a:rPr lang="ru-RU" dirty="0" err="1">
                <a:latin typeface="fkGroteskNeue"/>
              </a:rPr>
              <a:t>Цейтин</a:t>
            </a:r>
            <a:r>
              <a:rPr lang="ru-RU" dirty="0">
                <a:latin typeface="fkGroteskNeue"/>
              </a:rPr>
              <a:t> гарантирует линейный рост по размеру AST: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- на каждый узел добавляется константное число клауз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- добавляется одна новая переменная _</a:t>
            </a:r>
            <a:r>
              <a:rPr lang="ru-RU" dirty="0" err="1">
                <a:latin typeface="fkGroteskNeue"/>
              </a:rPr>
              <a:t>aux</a:t>
            </a: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CDF7197-9710-4F65-AA4A-E4BA8225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8490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Преобразование </a:t>
            </a:r>
            <a:r>
              <a:rPr lang="ru-RU" dirty="0" err="1">
                <a:solidFill>
                  <a:schemeClr val="bg1"/>
                </a:solidFill>
              </a:rPr>
              <a:t>Цейтна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Преобразование </a:t>
            </a:r>
            <a:r>
              <a:rPr lang="ru-RU" b="0" i="0" dirty="0" err="1">
                <a:effectLst/>
                <a:latin typeface="fkGroteskNeue"/>
              </a:rPr>
              <a:t>Цейтина</a:t>
            </a:r>
            <a:r>
              <a:rPr lang="ru-RU" b="0" i="0" dirty="0">
                <a:effectLst/>
                <a:latin typeface="fkGroteskNeue"/>
              </a:rPr>
              <a:t> преобразует произвольную булеву формулу или логическую схему в КНФ, которая сохраняет свойство выполнимости.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Для каждой </a:t>
            </a:r>
            <a:r>
              <a:rPr lang="ru-RU" b="0" i="0" dirty="0" err="1">
                <a:effectLst/>
                <a:latin typeface="fkGroteskNeue"/>
              </a:rPr>
              <a:t>подформулы</a:t>
            </a:r>
            <a:r>
              <a:rPr lang="ru-RU" b="0" i="0" dirty="0">
                <a:effectLst/>
                <a:latin typeface="fkGroteskNeue"/>
              </a:rPr>
              <a:t> или выхода логического элемента вводится новая переменная </a:t>
            </a:r>
            <a:r>
              <a:rPr lang="ru-RU" b="0" dirty="0">
                <a:effectLst/>
                <a:latin typeface="KaTeX_Main"/>
              </a:rPr>
              <a:t>x</a:t>
            </a:r>
            <a:r>
              <a:rPr lang="ru-RU" b="0" i="0" dirty="0">
                <a:effectLst/>
                <a:latin typeface="fkGroteskNeue"/>
              </a:rPr>
              <a:t>, представляющая её значение. Затем добавляются клаузы КНФ, эквивалентные </a:t>
            </a:r>
            <a:r>
              <a:rPr lang="en-US" dirty="0">
                <a:latin typeface="fkGroteskNeue"/>
              </a:rPr>
              <a:t>”</a:t>
            </a:r>
            <a:r>
              <a:rPr lang="ru-RU" b="0" dirty="0">
                <a:effectLst/>
                <a:latin typeface="KaTeX_Main"/>
              </a:rPr>
              <a:t>x ↔</a:t>
            </a:r>
            <a:r>
              <a:rPr lang="ru-RU" b="0" i="0" dirty="0">
                <a:effectLst/>
                <a:latin typeface="fkGroteskNeue"/>
              </a:rPr>
              <a:t> </a:t>
            </a:r>
            <a:r>
              <a:rPr lang="ru-RU" b="0" i="0" dirty="0" err="1">
                <a:effectLst/>
                <a:latin typeface="fkGroteskNeue"/>
              </a:rPr>
              <a:t>подформула</a:t>
            </a:r>
            <a:r>
              <a:rPr lang="en-US" b="0" i="0" dirty="0">
                <a:effectLst/>
                <a:latin typeface="fkGroteskNeue"/>
              </a:rPr>
              <a:t>”</a:t>
            </a:r>
            <a:r>
              <a:rPr lang="ru-RU" b="0" i="0" dirty="0">
                <a:effectLst/>
                <a:latin typeface="fkGroteskNeue"/>
              </a:rPr>
              <a:t>, где </a:t>
            </a:r>
            <a:r>
              <a:rPr lang="ru-RU" b="0" i="0" dirty="0" err="1">
                <a:effectLst/>
                <a:latin typeface="fkGroteskNeue"/>
              </a:rPr>
              <a:t>подформула</a:t>
            </a:r>
            <a:r>
              <a:rPr lang="ru-RU" b="0" i="0" dirty="0">
                <a:effectLst/>
                <a:latin typeface="fkGroteskNeue"/>
              </a:rPr>
              <a:t> разбивается рекурсивно.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Финальная КНФ — конъюнкция всех этих клауз.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A9FC68C-42E9-4D87-ADC9-79020943E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949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Преобразование </a:t>
            </a:r>
            <a:r>
              <a:rPr lang="ru-RU" dirty="0" err="1">
                <a:solidFill>
                  <a:schemeClr val="bg1"/>
                </a:solidFill>
              </a:rPr>
              <a:t>Цейтна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Рассмотрим формулу </a:t>
            </a:r>
            <a:r>
              <a:rPr lang="el-GR" b="0" dirty="0">
                <a:effectLst/>
                <a:latin typeface="KaTeX_Main"/>
              </a:rPr>
              <a:t>ϕ=((</a:t>
            </a:r>
            <a:r>
              <a:rPr lang="en-US" b="0" dirty="0">
                <a:effectLst/>
                <a:latin typeface="KaTeX_Main"/>
              </a:rPr>
              <a:t>p ∨ q) ∧ r) → (¬s)</a:t>
            </a:r>
            <a:r>
              <a:rPr lang="en-US" b="0" i="0" dirty="0">
                <a:effectLst/>
                <a:latin typeface="fkGroteskNeue"/>
              </a:rPr>
              <a:t>. 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Вводим переменные: </a:t>
            </a:r>
            <a:r>
              <a:rPr lang="en-US" b="0" dirty="0">
                <a:effectLst/>
                <a:latin typeface="KaTeX_Main"/>
              </a:rPr>
              <a:t>x1 ↔ ¬s</a:t>
            </a:r>
            <a:r>
              <a:rPr lang="en-US" b="0" i="0" dirty="0">
                <a:effectLst/>
                <a:latin typeface="fkGroteskNeue"/>
              </a:rPr>
              <a:t>, </a:t>
            </a:r>
            <a:r>
              <a:rPr lang="en-US" b="0" dirty="0">
                <a:effectLst/>
                <a:latin typeface="KaTeX_Main"/>
              </a:rPr>
              <a:t>x2 ↔ </a:t>
            </a:r>
            <a:r>
              <a:rPr lang="en-US" b="0" dirty="0" err="1">
                <a:effectLst/>
                <a:latin typeface="KaTeX_Main"/>
              </a:rPr>
              <a:t>p∨q</a:t>
            </a:r>
            <a:r>
              <a:rPr lang="en-US" b="0" i="0" dirty="0">
                <a:effectLst/>
                <a:latin typeface="fkGroteskNeue"/>
              </a:rPr>
              <a:t>, </a:t>
            </a:r>
            <a:r>
              <a:rPr lang="en-US" b="0" dirty="0">
                <a:effectLst/>
                <a:latin typeface="KaTeX_Main"/>
              </a:rPr>
              <a:t>x3 ↔ x2∧r</a:t>
            </a:r>
            <a:r>
              <a:rPr lang="en-US" b="0" i="0" dirty="0">
                <a:effectLst/>
                <a:latin typeface="fkGroteskNeue"/>
              </a:rPr>
              <a:t>, </a:t>
            </a:r>
            <a:r>
              <a:rPr lang="en-US" b="0" dirty="0">
                <a:effectLst/>
                <a:latin typeface="KaTeX_Main"/>
              </a:rPr>
              <a:t>x4 ↔ x3→x1</a:t>
            </a:r>
            <a:r>
              <a:rPr lang="en-US" b="0" i="0" dirty="0">
                <a:effectLst/>
                <a:latin typeface="fkGroteskNeue"/>
              </a:rPr>
              <a:t>.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Для </a:t>
            </a:r>
            <a:r>
              <a:rPr lang="en-US" b="0" dirty="0">
                <a:effectLst/>
                <a:latin typeface="KaTeX_Main"/>
              </a:rPr>
              <a:t>x2↔p∨q</a:t>
            </a:r>
            <a:r>
              <a:rPr lang="en-US" b="0" i="0" dirty="0">
                <a:effectLst/>
                <a:latin typeface="fkGroteskNeue"/>
              </a:rPr>
              <a:t> </a:t>
            </a:r>
            <a:r>
              <a:rPr lang="ru-RU" b="0" i="0" dirty="0">
                <a:effectLst/>
                <a:latin typeface="fkGroteskNeue"/>
              </a:rPr>
              <a:t>получаем клаузы: </a:t>
            </a:r>
            <a:r>
              <a:rPr lang="ru-RU" b="0" dirty="0">
                <a:effectLst/>
                <a:latin typeface="KaTeX_Main"/>
              </a:rPr>
              <a:t>(¬</a:t>
            </a:r>
            <a:r>
              <a:rPr lang="en-US" b="0" dirty="0">
                <a:effectLst/>
                <a:latin typeface="KaTeX_Main"/>
              </a:rPr>
              <a:t>x2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∨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p ∨ q)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∧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(¬p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∨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x2)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∧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(¬q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∨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dirty="0">
                <a:effectLst/>
                <a:latin typeface="KaTeX_Main"/>
              </a:rPr>
              <a:t>x2)</a:t>
            </a:r>
            <a:r>
              <a:rPr lang="en-US" b="0" i="0" dirty="0">
                <a:effectLst/>
                <a:latin typeface="fkGroteskNeue"/>
              </a:rPr>
              <a:t>.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endParaRPr lang="ru-RU" dirty="0">
              <a:latin typeface="fkGroteskNeue"/>
            </a:endParaRPr>
          </a:p>
          <a:p>
            <a:pPr marL="0" indent="0">
              <a:buNone/>
            </a:pPr>
            <a:r>
              <a:rPr lang="en-US" dirty="0">
                <a:latin typeface="fkGroteskNeue"/>
              </a:rPr>
              <a:t>x</a:t>
            </a:r>
            <a:r>
              <a:rPr lang="en-US" b="0" dirty="0">
                <a:effectLst/>
                <a:latin typeface="KaTeX_Main"/>
              </a:rPr>
              <a:t> ↔ ¬a </a:t>
            </a:r>
            <a:r>
              <a:rPr lang="ru-RU" b="0" i="0" dirty="0">
                <a:effectLst/>
                <a:latin typeface="fkGroteskNeue"/>
              </a:rPr>
              <a:t>—</a:t>
            </a:r>
            <a:r>
              <a:rPr lang="en-US" b="0" i="0" dirty="0">
                <a:effectLst/>
                <a:latin typeface="fkGroteskNeue"/>
              </a:rPr>
              <a:t> (</a:t>
            </a:r>
            <a:r>
              <a:rPr lang="en-US" b="0" dirty="0">
                <a:effectLst/>
                <a:latin typeface="KaTeX_Main"/>
              </a:rPr>
              <a:t>¬x ∨ ¬a</a:t>
            </a:r>
            <a:r>
              <a:rPr lang="en-US" b="0" i="0" dirty="0">
                <a:effectLst/>
                <a:latin typeface="fkGroteskNeue"/>
              </a:rPr>
              <a:t>) </a:t>
            </a:r>
            <a:r>
              <a:rPr lang="en-US" b="0" dirty="0">
                <a:effectLst/>
                <a:latin typeface="KaTeX_Main"/>
              </a:rPr>
              <a:t>∧ (x ∨ a)</a:t>
            </a:r>
          </a:p>
          <a:p>
            <a:pPr marL="0" indent="0">
              <a:buNone/>
            </a:pPr>
            <a:r>
              <a:rPr lang="en-US" i="0" dirty="0">
                <a:latin typeface="KaTeX_Main"/>
              </a:rPr>
              <a:t>x </a:t>
            </a:r>
            <a:r>
              <a:rPr lang="en-US" b="0" dirty="0">
                <a:effectLst/>
                <a:latin typeface="KaTeX_Main"/>
              </a:rPr>
              <a:t>↔ (a ∧ b) </a:t>
            </a:r>
            <a:r>
              <a:rPr lang="ru-RU" b="0" i="0" dirty="0">
                <a:effectLst/>
                <a:latin typeface="fkGroteskNeue"/>
              </a:rPr>
              <a:t>—</a:t>
            </a:r>
            <a:r>
              <a:rPr lang="en-US" b="0" i="0" dirty="0">
                <a:effectLst/>
                <a:latin typeface="fkGroteskNeue"/>
              </a:rPr>
              <a:t> (</a:t>
            </a:r>
            <a:r>
              <a:rPr lang="en-US" b="0" dirty="0">
                <a:effectLst/>
                <a:latin typeface="KaTeX_Main"/>
              </a:rPr>
              <a:t>¬x ∨ a</a:t>
            </a:r>
            <a:r>
              <a:rPr lang="en-US" b="0" i="0" dirty="0">
                <a:effectLst/>
                <a:latin typeface="fkGroteskNeue"/>
              </a:rPr>
              <a:t>) </a:t>
            </a:r>
            <a:r>
              <a:rPr lang="en-US" b="0" dirty="0">
                <a:effectLst/>
                <a:latin typeface="KaTeX_Main"/>
              </a:rPr>
              <a:t>∧ </a:t>
            </a:r>
            <a:r>
              <a:rPr lang="en-US" b="0" i="0" dirty="0">
                <a:effectLst/>
                <a:latin typeface="fkGroteskNeue"/>
              </a:rPr>
              <a:t>(</a:t>
            </a:r>
            <a:r>
              <a:rPr lang="en-US" b="0" dirty="0">
                <a:effectLst/>
                <a:latin typeface="KaTeX_Main"/>
              </a:rPr>
              <a:t>¬x ∨ b</a:t>
            </a:r>
            <a:r>
              <a:rPr lang="en-US" b="0" i="0" dirty="0">
                <a:effectLst/>
                <a:latin typeface="fkGroteskNeue"/>
              </a:rPr>
              <a:t>) </a:t>
            </a:r>
            <a:r>
              <a:rPr lang="en-US" b="0" dirty="0">
                <a:effectLst/>
                <a:latin typeface="KaTeX_Main"/>
              </a:rPr>
              <a:t>∧ </a:t>
            </a:r>
            <a:r>
              <a:rPr lang="en-US" b="0" i="0" dirty="0">
                <a:effectLst/>
                <a:latin typeface="fkGroteskNeue"/>
              </a:rPr>
              <a:t>(</a:t>
            </a:r>
            <a:r>
              <a:rPr lang="en-US" b="0" dirty="0">
                <a:effectLst/>
                <a:latin typeface="KaTeX_Main"/>
              </a:rPr>
              <a:t>x ∨ ¬a ∨ ¬b</a:t>
            </a:r>
            <a:r>
              <a:rPr lang="en-US" b="0" i="0" dirty="0">
                <a:effectLst/>
                <a:latin typeface="fkGroteskNeue"/>
              </a:rPr>
              <a:t>)</a:t>
            </a:r>
            <a:endParaRPr lang="en-US" b="0" dirty="0">
              <a:effectLst/>
              <a:latin typeface="KaTeX_Main"/>
            </a:endParaRPr>
          </a:p>
          <a:p>
            <a:pPr marL="0" indent="0">
              <a:buNone/>
            </a:pPr>
            <a:r>
              <a:rPr lang="en-US" i="0" dirty="0">
                <a:latin typeface="KaTeX_Main"/>
              </a:rPr>
              <a:t>x </a:t>
            </a:r>
            <a:r>
              <a:rPr lang="en-US" b="0" dirty="0">
                <a:effectLst/>
                <a:latin typeface="KaTeX_Main"/>
              </a:rPr>
              <a:t>↔ (a ∨ b) </a:t>
            </a:r>
            <a:r>
              <a:rPr lang="ru-RU" b="0" i="0" dirty="0">
                <a:effectLst/>
                <a:latin typeface="fkGroteskNeue"/>
              </a:rPr>
              <a:t>—</a:t>
            </a:r>
            <a:r>
              <a:rPr lang="en-US" b="0" i="0" dirty="0">
                <a:effectLst/>
                <a:latin typeface="fkGroteskNeue"/>
              </a:rPr>
              <a:t> (</a:t>
            </a:r>
            <a:r>
              <a:rPr lang="en-US" b="0" dirty="0">
                <a:effectLst/>
                <a:latin typeface="KaTeX_Main"/>
              </a:rPr>
              <a:t>x ∨ ¬a</a:t>
            </a:r>
            <a:r>
              <a:rPr lang="en-US" b="0" i="0" dirty="0">
                <a:effectLst/>
                <a:latin typeface="fkGroteskNeue"/>
              </a:rPr>
              <a:t>) </a:t>
            </a:r>
            <a:r>
              <a:rPr lang="en-US" b="0" dirty="0">
                <a:effectLst/>
                <a:latin typeface="KaTeX_Main"/>
              </a:rPr>
              <a:t>∧ </a:t>
            </a:r>
            <a:r>
              <a:rPr lang="en-US" b="0" i="0" dirty="0">
                <a:effectLst/>
                <a:latin typeface="fkGroteskNeue"/>
              </a:rPr>
              <a:t>(</a:t>
            </a:r>
            <a:r>
              <a:rPr lang="en-US" b="0" dirty="0">
                <a:effectLst/>
                <a:latin typeface="KaTeX_Main"/>
              </a:rPr>
              <a:t>x ∨ ¬b</a:t>
            </a:r>
            <a:r>
              <a:rPr lang="en-US" b="0" i="0" dirty="0">
                <a:effectLst/>
                <a:latin typeface="fkGroteskNeue"/>
              </a:rPr>
              <a:t>) </a:t>
            </a:r>
            <a:r>
              <a:rPr lang="en-US" b="0" dirty="0">
                <a:effectLst/>
                <a:latin typeface="KaTeX_Main"/>
              </a:rPr>
              <a:t>∧ </a:t>
            </a:r>
            <a:r>
              <a:rPr lang="en-US" b="0" i="0" dirty="0">
                <a:effectLst/>
                <a:latin typeface="fkGroteskNeue"/>
              </a:rPr>
              <a:t>(</a:t>
            </a:r>
            <a:r>
              <a:rPr lang="en-US" b="0" dirty="0">
                <a:effectLst/>
                <a:latin typeface="KaTeX_Main"/>
              </a:rPr>
              <a:t>¬x ∨ a ∨ b</a:t>
            </a:r>
            <a:r>
              <a:rPr lang="en-US" b="0" i="0" dirty="0">
                <a:effectLst/>
                <a:latin typeface="fkGroteskNeue"/>
              </a:rPr>
              <a:t>)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endParaRPr lang="ru-RU" b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en-US" b="0" dirty="0">
                <a:effectLst/>
                <a:latin typeface="fkGroteskNeue"/>
              </a:rPr>
              <a:t>a </a:t>
            </a:r>
            <a:r>
              <a:rPr lang="en-US" b="0" dirty="0">
                <a:effectLst/>
                <a:latin typeface="KaTeX_Main"/>
              </a:rPr>
              <a:t>→</a:t>
            </a:r>
            <a:r>
              <a:rPr lang="en-US" b="0" dirty="0">
                <a:effectLst/>
                <a:latin typeface="fkGroteskNeue"/>
              </a:rPr>
              <a:t> b </a:t>
            </a:r>
            <a:r>
              <a:rPr lang="ru-RU" b="0" i="0" dirty="0">
                <a:effectLst/>
                <a:latin typeface="fkGroteskNeue"/>
              </a:rPr>
              <a:t>—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en-US" b="0" dirty="0">
                <a:effectLst/>
                <a:latin typeface="KaTeX_Main"/>
              </a:rPr>
              <a:t>¬a ∨ b</a:t>
            </a:r>
          </a:p>
          <a:p>
            <a:pPr marL="0" indent="0">
              <a:buNone/>
            </a:pPr>
            <a:r>
              <a:rPr lang="en-US" dirty="0">
                <a:latin typeface="KaTeX_Main"/>
              </a:rPr>
              <a:t>a </a:t>
            </a:r>
            <a:r>
              <a:rPr lang="en-US" b="0" dirty="0">
                <a:effectLst/>
                <a:latin typeface="KaTeX_Main"/>
              </a:rPr>
              <a:t>↔ b </a:t>
            </a:r>
            <a:r>
              <a:rPr lang="ru-RU" b="0" i="0" dirty="0">
                <a:effectLst/>
                <a:latin typeface="fkGroteskNeue"/>
              </a:rPr>
              <a:t>—</a:t>
            </a:r>
            <a:r>
              <a:rPr lang="en-US" b="0" i="0" dirty="0">
                <a:effectLst/>
                <a:latin typeface="fkGroteskNeue"/>
              </a:rPr>
              <a:t> (</a:t>
            </a:r>
            <a:r>
              <a:rPr lang="en-US" b="0" dirty="0">
                <a:effectLst/>
                <a:latin typeface="fkGroteskNeue"/>
              </a:rPr>
              <a:t>a </a:t>
            </a:r>
            <a:r>
              <a:rPr lang="en-US" b="0" dirty="0">
                <a:effectLst/>
                <a:latin typeface="KaTeX_Main"/>
              </a:rPr>
              <a:t>→</a:t>
            </a:r>
            <a:r>
              <a:rPr lang="en-US" b="0" dirty="0">
                <a:effectLst/>
                <a:latin typeface="fkGroteskNeue"/>
              </a:rPr>
              <a:t> b</a:t>
            </a:r>
            <a:r>
              <a:rPr lang="en-US" b="0" i="0" dirty="0">
                <a:effectLst/>
                <a:latin typeface="fkGroteskNeue"/>
              </a:rPr>
              <a:t>)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en-US" b="0" dirty="0">
                <a:effectLst/>
                <a:latin typeface="KaTeX_Main"/>
              </a:rPr>
              <a:t>∧</a:t>
            </a:r>
            <a:r>
              <a:rPr lang="ru-RU" b="0" dirty="0">
                <a:effectLst/>
                <a:latin typeface="KaTeX_Main"/>
              </a:rPr>
              <a:t> </a:t>
            </a:r>
            <a:r>
              <a:rPr lang="en-US" b="0" i="0" dirty="0">
                <a:effectLst/>
                <a:latin typeface="fkGroteskNeue"/>
              </a:rPr>
              <a:t>(</a:t>
            </a:r>
            <a:r>
              <a:rPr lang="en-US" i="0" dirty="0">
                <a:latin typeface="fkGroteskNeue"/>
              </a:rPr>
              <a:t>b</a:t>
            </a:r>
            <a:r>
              <a:rPr lang="en-US" b="0" dirty="0">
                <a:effectLst/>
                <a:latin typeface="fkGroteskNeue"/>
              </a:rPr>
              <a:t> </a:t>
            </a:r>
            <a:r>
              <a:rPr lang="en-US" b="0" dirty="0">
                <a:effectLst/>
                <a:latin typeface="KaTeX_Main"/>
              </a:rPr>
              <a:t>→</a:t>
            </a:r>
            <a:r>
              <a:rPr lang="en-US" b="0" dirty="0">
                <a:effectLst/>
                <a:latin typeface="fkGroteskNeue"/>
              </a:rPr>
              <a:t> a</a:t>
            </a:r>
            <a:r>
              <a:rPr lang="en-US" b="0" i="0" dirty="0">
                <a:effectLst/>
                <a:latin typeface="fkGroteskNeue"/>
              </a:rPr>
              <a:t>)</a:t>
            </a:r>
            <a:endParaRPr lang="en-US" b="0" dirty="0">
              <a:effectLst/>
              <a:latin typeface="KaTeX_Main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A9FC68C-42E9-4D87-ADC9-79020943E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1589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полного перебора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Метод полного перебора (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) основан на систематическом тестировании всех возможных назначений значений переменным формулы. Практическая применимость этого метода ограничивается следующим образом: при n = 10 переменных требуется проверить 1024 комбинации; при n = 20 — 1048576 комбинаций; при n = 30 — 1073741824 комбинаций.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Экспоненциальный рост функции 2ⁿ делает полный перебор практически неприменимым для n &gt; 25 на современных вычислительных системах. А такой запрос есть.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CF50E8-CF4E-4F7A-9469-8A13C19A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0563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редукция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Одним из значительных практических применений SAT-решателей является верификация эквивалентности цифровых схем. Пусть даны две булевы функции F₁ и F₂, реализованные различными схемотехническими реализациями. Вопрос верификации формулируется следующим образом: выполняется ли условие ∀x ∈ {0,1}ⁿ: F₁(x) = F₂(x)? Классический подход к решению этой задачи посредством SAT-решателя использует конструкцию, называемую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D(x) = (F₁(x) ∧ ¬F₂(x)) ∨ (¬F₁(x) ∧ F₂(x)).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D истинна тогда и только тогда, когда F₁ и F₂ выдают различные значения при некотором входном векторе x. SAT-решатель решает задачу о выполнимости D. Если D выполнима (SAT), то найдено свидетельство неэквивалентности (контрпример). Если D невыполнима (UNSAT), функции эквивалентны.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B2F3A90-9F6E-4A95-9DA8-C97913D9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838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DPLL, предложенный </a:t>
            </a:r>
            <a:r>
              <a:rPr lang="ru-RU" b="0" i="0" dirty="0" err="1">
                <a:effectLst/>
                <a:latin typeface="fkGroteskNeue"/>
              </a:rPr>
              <a:t>Davis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Putnam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Logemann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Loveland</a:t>
            </a:r>
            <a:r>
              <a:rPr lang="ru-RU" b="0" i="0" dirty="0">
                <a:effectLst/>
                <a:latin typeface="fkGroteskNeue"/>
              </a:rPr>
              <a:t> в 1960-х годах, представляет собой первый систематический метод решения SAT-задач, использующий принцип поиска с возвратом (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). Работает исключительно с формулами в конъюнктивной нормальной форме (КНФ). Основные компоненты алгоритма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Unit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— если клауза содержит единственный литерал, этот литерал обязательно должен быть установлен в истину; в результате клауза удаляется, остальные клаузы упрощаются путём удаления противоположного литерала;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Pure </a:t>
            </a:r>
            <a:r>
              <a:rPr lang="ru-RU" b="0" i="0" dirty="0" err="1">
                <a:effectLst/>
                <a:latin typeface="fkGroteskNeue"/>
              </a:rPr>
              <a:t>Literal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Elimination</a:t>
            </a:r>
            <a:r>
              <a:rPr lang="ru-RU" b="0" i="0" dirty="0">
                <a:effectLst/>
                <a:latin typeface="fkGroteskNeue"/>
              </a:rPr>
              <a:t> — если переменная встречается в формуле только в одном полярном виде, ей присваивается значение, удовлетворяющее все содержащие её клаузы;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</a:t>
            </a:r>
            <a:r>
              <a:rPr lang="ru-RU" b="0" i="0" dirty="0" err="1">
                <a:effectLst/>
                <a:latin typeface="fkGroteskNeue"/>
              </a:rPr>
              <a:t>Decision</a:t>
            </a:r>
            <a:r>
              <a:rPr lang="ru-RU" b="0" i="0" dirty="0">
                <a:effectLst/>
                <a:latin typeface="fkGroteskNeue"/>
              </a:rPr>
              <a:t> — выбор неустановленной переменной и рекурсивная попытка обоих её значений; 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98957FA-0A58-4FB5-A0FA-A12124F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9445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при обнаружении противоречия (пустой клаузы) возврат к последней точке выбора и попытка альтернативного значения.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DPLL значительно снижает эффективный размер пространства поиска по сравнению с полным перебором, однако не использует информацию из предыдущих конфликтов для оптимизации будущего поиска.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ru-RU" b="0" i="0" dirty="0">
                <a:effectLst/>
                <a:latin typeface="fkGroteskNeue"/>
              </a:rPr>
              <a:t>Этого недостатка лишён следующий алгоритм.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 худшем случае временная сложность DPLL остаётся экспоненциальной.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F3F3132-00CF-4874-8B4C-59FAEA43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3260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 представляет собой современное расширение DPLL, определившее развитие SAT-решателей за последние два десятилетия. Ключевые инновации CDCL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 — при обнаружении конфликта* анализируются причины конфликта: выполняется обход графа импликаций в обратном направлении; на основе этого анализа синтезируется новая клауза, которая добавляется в формулу и предотвращает повторение идентичного конфликта;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Non-</a:t>
            </a:r>
            <a:r>
              <a:rPr lang="ru-RU" b="0" i="0" dirty="0" err="1">
                <a:effectLst/>
                <a:latin typeface="fkGroteskNeue"/>
              </a:rPr>
              <a:t>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возврат выполняется не на один уровень, а на уровень, определяемый анализом конфликта (</a:t>
            </a:r>
            <a:r>
              <a:rPr lang="ru-RU" b="0" i="0" dirty="0" err="1">
                <a:effectLst/>
                <a:latin typeface="fkGroteskNeue"/>
              </a:rPr>
              <a:t>asserting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level</a:t>
            </a:r>
            <a:r>
              <a:rPr lang="ru-RU" b="0" i="0" dirty="0">
                <a:effectLst/>
                <a:latin typeface="fkGroteskNeue"/>
              </a:rPr>
              <a:t>), что позволяет более эффективно сужать пространство поиска;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*Конфликт в CDCL — это ситуация, когда при текущем частичном присваивании хотя бы одна клауза полностью ложна (пустая клауза).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133BAB-901F-4384-B9F6-B8D98B83D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82100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VSIDS </a:t>
            </a:r>
            <a:r>
              <a:rPr lang="ru-RU" b="0" i="0" dirty="0" err="1">
                <a:effectLst/>
                <a:latin typeface="fkGroteskNeue"/>
              </a:rPr>
              <a:t>Heuristic</a:t>
            </a:r>
            <a:r>
              <a:rPr lang="ru-RU" b="0" i="0" dirty="0">
                <a:effectLst/>
                <a:latin typeface="fkGroteskNeue"/>
              </a:rPr>
              <a:t> (</a:t>
            </a:r>
            <a:r>
              <a:rPr lang="ru-RU" b="0" i="0" dirty="0" err="1">
                <a:effectLst/>
                <a:latin typeface="fkGroteskNeue"/>
              </a:rPr>
              <a:t>Variable</a:t>
            </a:r>
            <a:r>
              <a:rPr lang="ru-RU" b="0" i="0" dirty="0">
                <a:effectLst/>
                <a:latin typeface="fkGroteskNeue"/>
              </a:rPr>
              <a:t> State Independent </a:t>
            </a:r>
            <a:r>
              <a:rPr lang="ru-RU" b="0" i="0" dirty="0" err="1">
                <a:effectLst/>
                <a:latin typeface="fkGroteskNeue"/>
              </a:rPr>
              <a:t>Decaying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Sum</a:t>
            </a:r>
            <a:r>
              <a:rPr lang="ru-RU" b="0" i="0" dirty="0">
                <a:effectLst/>
                <a:latin typeface="fkGroteskNeue"/>
              </a:rPr>
              <a:t>) — эвристика выбора переменной, которая </a:t>
            </a:r>
            <a:r>
              <a:rPr lang="ru-RU" b="0" i="0" dirty="0" err="1">
                <a:effectLst/>
                <a:latin typeface="fkGroteskNeue"/>
              </a:rPr>
              <a:t>приоритизирует</a:t>
            </a:r>
            <a:r>
              <a:rPr lang="ru-RU" b="0" i="0" dirty="0">
                <a:effectLst/>
                <a:latin typeface="fkGroteskNeue"/>
              </a:rPr>
              <a:t> переменные, часто появляющиеся в недавних конфликтах, с экспоненциальным затуханием старых данных;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Restarts</a:t>
            </a:r>
            <a:r>
              <a:rPr lang="ru-RU" b="0" i="0" dirty="0">
                <a:effectLst/>
                <a:latin typeface="fkGroteskNeue"/>
              </a:rPr>
              <a:t> — периодическая перезагрузка процесса поиска с сохранением выученных клауз, что помогает преодолевать "застревание" в неудачных ветвях;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In-</a:t>
            </a:r>
            <a:r>
              <a:rPr lang="ru-RU" b="0" i="0" dirty="0" err="1">
                <a:effectLst/>
                <a:latin typeface="fkGroteskNeue"/>
              </a:rPr>
              <a:t>processing</a:t>
            </a:r>
            <a:r>
              <a:rPr lang="ru-RU" b="0" i="0" dirty="0">
                <a:effectLst/>
                <a:latin typeface="fkGroteskNeue"/>
              </a:rPr>
              <a:t> — оптимизация формулы во время решения путём упрощения и удаления избыточных клауз. </a:t>
            </a:r>
            <a:endParaRPr lang="en-US" b="0" i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CDCL-решатели </a:t>
            </a:r>
            <a:r>
              <a:rPr lang="ru-RU" b="0" i="0" dirty="0">
                <a:effectLst/>
                <a:latin typeface="fkGroteskNeue"/>
              </a:rPr>
              <a:t>демонстрируют способность решать практические экземпляры SAT с тысячами переменных и миллионами клауз.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31043C-911B-444D-A1E3-CBCD9C0F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21750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AST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85673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Абстрактное синтаксическое дерево (англ. abstract syntax tree, AST) — конечное помеченное ориентированное дерево, в котором внутренние вершины сопоставлены (помечены) с операторами, а листья — с соответствующими операндами.</a:t>
            </a:r>
            <a:r>
              <a:rPr lang="en-US" b="0" i="0">
                <a:effectLst/>
                <a:latin typeface="fkGroteskNeue"/>
              </a:rPr>
              <a:t> </a:t>
            </a:r>
            <a:r>
              <a:rPr lang="ru-RU"/>
              <a:t>Таким образом, листья являются пустыми операторами и представляют только переменные и константы.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E1BE82-7172-4188-874A-3C6F6F47E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16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DD08104-3E57-4DF9-B0D0-C53BE791F3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8046" y="1825625"/>
            <a:ext cx="2044374" cy="34621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AF7BEC-B977-4E6B-B9B7-0C514C322F77}"/>
              </a:ext>
            </a:extLst>
          </p:cNvPr>
          <p:cNvSpPr txBox="1"/>
          <p:nvPr/>
        </p:nvSpPr>
        <p:spPr>
          <a:xfrm>
            <a:off x="8610600" y="5558098"/>
            <a:ext cx="2846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!(x0</a:t>
            </a:r>
            <a:r>
              <a:rPr lang="en-US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en-US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x1) </a:t>
            </a:r>
            <a:r>
              <a:rPr lang="ru-RU" sz="1800" kern="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∣</a:t>
            </a:r>
            <a:r>
              <a:rPr lang="ru-RU" sz="1800" kern="0" dirty="0"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x2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22223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Z3 </a:t>
            </a:r>
            <a:r>
              <a:rPr lang="ru-RU" dirty="0">
                <a:solidFill>
                  <a:schemeClr val="bg1"/>
                </a:solidFill>
              </a:rPr>
              <a:t>решатель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Z3 — SMT-решатель, разработанный в Microsoft Research. В отличие от классических SAT-решателей, Z3 поддерживает не только булеву логику, но и теории целых/вещественных чисел, массивов и функций.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Архитектура основана на CDCL-алгоритме, дополненном слоями: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и построение AST, применение теоретических </a:t>
            </a:r>
            <a:r>
              <a:rPr lang="ru-RU" b="0" i="0" dirty="0" err="1">
                <a:effectLst/>
                <a:latin typeface="fkGroteskNeue"/>
              </a:rPr>
              <a:t>разрешителей</a:t>
            </a:r>
            <a:r>
              <a:rPr lang="ru-RU" b="0" i="0" dirty="0">
                <a:effectLst/>
                <a:latin typeface="fkGroteskNeue"/>
              </a:rPr>
              <a:t>, ядро SAT-решателя с оптимизациями, управление конфликтами и обучение клаузам.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Производительность обеспечивается благодаря VSIDS-эвристике, эффективному управлению памятью, стратегиям рестарта и параллельному поиску. Решатель распространяется открытым исходным кодом на </a:t>
            </a:r>
            <a:r>
              <a:rPr lang="ru-RU" b="0" i="0" dirty="0" err="1">
                <a:effectLst/>
                <a:latin typeface="fkGroteskNeue"/>
              </a:rPr>
              <a:t>GitHub</a:t>
            </a:r>
            <a:r>
              <a:rPr lang="ru-RU" b="0" i="0" dirty="0">
                <a:effectLst/>
                <a:latin typeface="fkGroteskNeue"/>
              </a:rPr>
              <a:t> с поддержкой привязок для Python, Java, C++, Go и </a:t>
            </a:r>
            <a:r>
              <a:rPr lang="ru-RU" b="0" i="0" dirty="0" err="1">
                <a:effectLst/>
                <a:latin typeface="fkGroteskNeue"/>
              </a:rPr>
              <a:t>Rust</a:t>
            </a:r>
            <a:r>
              <a:rPr lang="ru-RU" b="0" i="0" dirty="0">
                <a:effectLst/>
                <a:latin typeface="fkGroteskNeue"/>
              </a:rPr>
              <a:t>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CB4DA7F-6AFA-4332-B7B0-81DF41380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09175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VSIDS-</a:t>
            </a:r>
            <a:r>
              <a:rPr lang="ru-RU" dirty="0">
                <a:solidFill>
                  <a:schemeClr val="bg1"/>
                </a:solidFill>
              </a:rPr>
              <a:t>эвристика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0" i="0" dirty="0">
                <a:effectLst/>
                <a:latin typeface="fkGroteskNeue"/>
              </a:rPr>
              <a:t>Variable State Independent Decaying Sum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Каждой переменной x сопоставляется числовой параметр активности A(x). При возникновении конфликта и построении выученной клаузы активность переменных, вошедших в эту клаузы, увеличивается (операция </a:t>
            </a:r>
            <a:r>
              <a:rPr lang="ru-RU" b="0" i="0" dirty="0" err="1">
                <a:effectLst/>
                <a:latin typeface="fkGroteskNeue"/>
              </a:rPr>
              <a:t>bump</a:t>
            </a:r>
            <a:r>
              <a:rPr lang="ru-RU" b="0" i="0" dirty="0">
                <a:effectLst/>
                <a:latin typeface="fkGroteskNeue"/>
              </a:rPr>
              <a:t>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Далее активности подвергаются затуханию (</a:t>
            </a:r>
            <a:r>
              <a:rPr lang="ru-RU" b="0" i="0" dirty="0" err="1">
                <a:effectLst/>
                <a:latin typeface="fkGroteskNeue"/>
              </a:rPr>
              <a:t>decay</a:t>
            </a:r>
            <a:r>
              <a:rPr lang="ru-RU" b="0" i="0" dirty="0">
                <a:effectLst/>
                <a:latin typeface="fkGroteskNeue"/>
              </a:rPr>
              <a:t>): вклад давних конфликтов постепенно уменьшается, а свежие конфликты оказываются важнее. Переменная для следующего решения выбирается как переменная с максимальной активностью среди не назначенных.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Интуитивно это означает, что решатель концентрируется на переменных, которые чаще всего оказываются вовлечены в противоречия и, следовательно, лучше всего «разрезают» пространство поиска.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CB4DA7F-6AFA-4332-B7B0-81DF41380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7098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полного перебора для проверки эквивалентности двух булевых формул F₁ и F₂ основан на следующей процедуре: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Пусть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= {x₀, x₁, ..., xₙ₋₁} — объединение множеств переменных обеих формул. Для каждой интерпретации σ: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→ {0, 1} (всего 2ⁿ интерпретаций) вычисляются значения F₁(σ) и F₂(σ). Если существует интерпретация σ, для которой F₁(σ) ≠ F₂(σ), формулы не эквивалентны — процедура возвращает </a:t>
            </a:r>
            <a:r>
              <a:rPr lang="ru-RU" b="0" i="0" dirty="0" err="1">
                <a:effectLst/>
                <a:latin typeface="fkGroteskNeue"/>
              </a:rPr>
              <a:t>False</a:t>
            </a:r>
            <a:r>
              <a:rPr lang="ru-RU" b="0" i="0" dirty="0">
                <a:effectLst/>
                <a:latin typeface="fkGroteskNeue"/>
              </a:rPr>
              <a:t>. Если все интерпретации удовлетворяют F₁(σ) = F₂(σ), формулы эквивалентны — возвращает True.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FDAAFE-ACCE-459A-BD42-482B02F6C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224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Временная сложность алгоритма: T = O(2ⁿ · m), где m — время вычисления формулы. Пространственная сложность: O(n). Практическая верхняя граница применимости полного перебора составляет n ≤ 25 переменных на современных ПК, при этом время вычисления может достигать нескольких минут.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Преимущество метода — простота реализации и гарантированная корректность. Недостаток — невозможность масштабирования на более крупные задачи.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DFD50E0-FD6E-4394-B4DD-801178EEC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4438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Подход верификации с использованием Z3 основан на редукции к задаче выполнимости. Для проверки эквивалентности F₁ ≡ F₂ строится формула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M(x) = (F₁(x) ∧ ¬F₂(x)) ∨ (¬F₁(x) ∧ F₂(x)).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M выражает XOR функций: M истинна тогда и только тогда, когда F₁ и F₂ выдают различные значения. Процедура: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обеих формул в AST;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Трансляция AST в Z3-выражения* с использованием рекурсивного обхода дерева и преобразования узлов в соответствующие Z3 примитивы (And, </a:t>
            </a:r>
            <a:r>
              <a:rPr lang="ru-RU" b="0" i="0" dirty="0" err="1">
                <a:effectLst/>
                <a:latin typeface="fkGroteskNeue"/>
              </a:rPr>
              <a:t>Or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Not</a:t>
            </a:r>
            <a:r>
              <a:rPr lang="ru-RU" b="0" i="0" dirty="0">
                <a:effectLst/>
                <a:latin typeface="fkGroteskNeue"/>
              </a:rPr>
              <a:t>);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*Z3-выражение — это синтаксический объект (AST), описывающий терм или логическую формулу над теориями Z3, используемый для задания ограничений и рассуждений в SMT-решении.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916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Конструирование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как булево выражение в Z3;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Добавление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в Z3 </a:t>
            </a:r>
            <a:r>
              <a:rPr lang="ru-RU" b="0" i="0" dirty="0" err="1">
                <a:effectLst/>
                <a:latin typeface="fkGroteskNeue"/>
              </a:rPr>
              <a:t>Solver</a:t>
            </a:r>
            <a:r>
              <a:rPr lang="ru-RU" b="0" i="0" dirty="0">
                <a:effectLst/>
                <a:latin typeface="fkGroteskNeue"/>
              </a:rPr>
              <a:t>: </a:t>
            </a:r>
            <a:r>
              <a:rPr lang="ru-RU" b="0" i="0" dirty="0" err="1">
                <a:effectLst/>
                <a:latin typeface="fkGroteskNeue"/>
              </a:rPr>
              <a:t>solver.add</a:t>
            </a:r>
            <a:r>
              <a:rPr lang="ru-RU" b="0" i="0" dirty="0">
                <a:effectLst/>
                <a:latin typeface="fkGroteskNeue"/>
              </a:rPr>
              <a:t>(M);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Вызов </a:t>
            </a:r>
            <a:r>
              <a:rPr lang="ru-RU" b="0" i="0" dirty="0" err="1">
                <a:effectLst/>
                <a:latin typeface="fkGroteskNeue"/>
              </a:rPr>
              <a:t>solver.check</a:t>
            </a:r>
            <a:r>
              <a:rPr lang="ru-RU" b="0" i="0" dirty="0">
                <a:effectLst/>
                <a:latin typeface="fkGroteskNeue"/>
              </a:rPr>
              <a:t>(): если результат SAT, найдено свидетельство различия — формулы не эквивалентны; если UNSAT — формулы эквивалентны. Z3 при наличии свидетельства (SAT) может извлечь значение-модель, которое служит контрпримером.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Временная сложность в среднем случае практически не зависит от n.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F24A9A7-DD02-4C15-B447-CC7B6D02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776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Входом алгоритма является формула в конъюнктивной нормальной форме, полученная из AST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с использованием преобразования </a:t>
            </a:r>
            <a:r>
              <a:rPr lang="ru-RU" b="0" i="0" dirty="0" err="1">
                <a:effectLst/>
                <a:latin typeface="fkGroteskNeue"/>
              </a:rPr>
              <a:t>Цейтина</a:t>
            </a:r>
            <a:r>
              <a:rPr lang="ru-RU" b="0" i="0" dirty="0">
                <a:effectLst/>
                <a:latin typeface="fkGroteskNeue"/>
              </a:rPr>
              <a:t>. Основные этапы работы учебного DPLL:</a:t>
            </a:r>
          </a:p>
          <a:p>
            <a:r>
              <a:rPr lang="ru-RU" b="0" i="0" dirty="0">
                <a:effectLst/>
                <a:latin typeface="fkGroteskNeue"/>
              </a:rPr>
              <a:t>разбор формул F1​ и F2​ в AST и построение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M=(F1∧¬F2)∨(¬F1∧F2);</a:t>
            </a:r>
          </a:p>
          <a:p>
            <a:r>
              <a:rPr lang="ru-RU" b="0" i="0" dirty="0">
                <a:effectLst/>
                <a:latin typeface="fkGroteskNeue"/>
              </a:rPr>
              <a:t>преобразование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в КНФ с введением вспомогательных переменных;</a:t>
            </a:r>
          </a:p>
          <a:p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— принудительное присваивание значений переменным из единичных клауз;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791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r>
              <a:rPr lang="ru-RU" b="0" i="0">
                <a:effectLst/>
                <a:latin typeface="fkGroteskNeue"/>
              </a:rPr>
              <a:t>выбор </a:t>
            </a:r>
            <a:r>
              <a:rPr lang="ru-RU" b="0" i="0" dirty="0">
                <a:effectLst/>
                <a:latin typeface="fkGroteskNeue"/>
              </a:rPr>
              <a:t>неинициализированной переменной и ветвление по значениям;</a:t>
            </a:r>
          </a:p>
          <a:p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при обнаружении конфликта (пустой клаузы).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Интерпретация результата: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 — найдено удовлетворяющее присваивание, схемы неэквивалентны;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UNSAT — модель отсутствует, схемы эквивалентны.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3075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Построение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и перевод в КНФ выполняются аналогично варианту с DPLL. Ключевые механизмы учебного CDCL:</a:t>
            </a:r>
          </a:p>
          <a:p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с сохранением клауз-причин для каждого принудительного присваивания;</a:t>
            </a:r>
          </a:p>
          <a:p>
            <a:r>
              <a:rPr lang="ru-RU" b="0" i="0" dirty="0">
                <a:effectLst/>
                <a:latin typeface="fkGroteskNeue"/>
              </a:rPr>
              <a:t>обнаружение конфликта при полной ложности некоторой клаузы;</a:t>
            </a:r>
          </a:p>
          <a:p>
            <a:r>
              <a:rPr lang="ru-RU" b="0" i="0" dirty="0">
                <a:effectLst/>
                <a:latin typeface="fkGroteskNeue"/>
              </a:rPr>
              <a:t>анализ конфликта и построение выученной клаузы (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learning</a:t>
            </a:r>
            <a:r>
              <a:rPr lang="ru-RU" b="0" i="0" dirty="0">
                <a:effectLst/>
                <a:latin typeface="fkGroteskNeue"/>
              </a:rPr>
              <a:t>);</a:t>
            </a:r>
          </a:p>
          <a:p>
            <a:r>
              <a:rPr lang="ru-RU" b="0" i="0" dirty="0">
                <a:effectLst/>
                <a:latin typeface="fkGroteskNeue"/>
              </a:rPr>
              <a:t>добавление выученной клаузы в формулу;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0160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r>
              <a:rPr lang="ru-RU" b="0" i="0">
                <a:effectLst/>
                <a:latin typeface="fkGroteskNeue"/>
              </a:rPr>
              <a:t>нехронологический </a:t>
            </a:r>
            <a:r>
              <a:rPr lang="ru-RU" b="0" i="0" dirty="0">
                <a:effectLst/>
                <a:latin typeface="fkGroteskNeue"/>
              </a:rPr>
              <a:t>возврат (</a:t>
            </a:r>
            <a:r>
              <a:rPr lang="ru-RU" b="0" i="0" dirty="0" err="1">
                <a:effectLst/>
                <a:latin typeface="fkGroteskNeue"/>
              </a:rPr>
              <a:t>backjump</a:t>
            </a:r>
            <a:r>
              <a:rPr lang="ru-RU" b="0" i="0" dirty="0">
                <a:effectLst/>
                <a:latin typeface="fkGroteskNeue"/>
              </a:rPr>
              <a:t>) на уровень, определяемый структурой конфликта.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Использование обучения позволяет исключать повторение одинаковых конфликтных ситуаций и уменьшать пространство поиска.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Интерпретация результата: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 — найден контрпример, схемы неэквивалентны;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UNSAT — контрпримеров не существует, схемы эквивалентны.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70003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1A858C-C156-B159-B6C9-F121B8D996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Для анализа производительности на малых формулах (n ≤ 10 переменных) были проведены измерения на наборе тестовых примеров с различными типами логических связей. Результаты показали:</a:t>
                </a: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1 (x₀ </a:t>
                </a:r>
                <a14:m>
                  <m:oMath xmlns:m="http://schemas.openxmlformats.org/officeDocument/2006/math">
                    <m:r>
                      <a:rPr lang="ru-RU" b="0" i="1" smtClean="0">
                        <a:effectLst/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x₁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x₀): </a:t>
                </a:r>
                <a:r>
                  <a:rPr lang="ru-RU" b="0" i="0" dirty="0" err="1">
                    <a:effectLst/>
                    <a:latin typeface="fkGroteskNeue"/>
                  </a:rPr>
                  <a:t>bruteforce</a:t>
                </a:r>
                <a:r>
                  <a:rPr lang="ru-RU" b="0" i="0" dirty="0">
                    <a:effectLst/>
                    <a:latin typeface="fkGroteskNeue"/>
                  </a:rPr>
                  <a:t> = 0.01</a:t>
                </a:r>
                <a:r>
                  <a:rPr lang="en-US" b="0" i="0" dirty="0">
                    <a:effectLst/>
                    <a:latin typeface="fkGroteskNeue"/>
                  </a:rPr>
                  <a:t>2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en-US" b="0" i="0" dirty="0">
                    <a:effectLst/>
                    <a:latin typeface="fkGroteskNeue"/>
                  </a:rPr>
                  <a:t>,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en-US" dirty="0">
                    <a:latin typeface="fkGroteskNeue"/>
                  </a:rPr>
                  <a:t>DPLL = 0.209</a:t>
                </a:r>
                <a:r>
                  <a:rPr lang="ru-RU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, </a:t>
                </a:r>
                <a:r>
                  <a:rPr lang="en-US" dirty="0">
                    <a:latin typeface="fkGroteskNeue"/>
                  </a:rPr>
                  <a:t>CDCL = </a:t>
                </a:r>
                <a:r>
                  <a:rPr lang="ru-RU" dirty="0">
                    <a:latin typeface="fkGroteskNeue"/>
                  </a:rPr>
                  <a:t>0.370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en-US" dirty="0">
                    <a:latin typeface="fkGroteskNeue"/>
                  </a:rPr>
                  <a:t>, </a:t>
                </a:r>
                <a:r>
                  <a:rPr lang="ru-RU" dirty="0">
                    <a:latin typeface="fkGroteskNeue"/>
                  </a:rPr>
                  <a:t>Z3 </a:t>
                </a:r>
                <a:r>
                  <a:rPr lang="ru-RU" b="0" i="0" dirty="0">
                    <a:effectLst/>
                    <a:latin typeface="fkGroteskNeue"/>
                  </a:rPr>
                  <a:t>= </a:t>
                </a:r>
                <a:r>
                  <a:rPr lang="en-US" b="0" i="0" dirty="0">
                    <a:effectLst/>
                    <a:latin typeface="fkGroteskNeue"/>
                  </a:rPr>
                  <a:t>60.015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ru-RU" b="0" i="0" dirty="0">
                    <a:effectLst/>
                    <a:latin typeface="fkGroteskNeue"/>
                  </a:rPr>
                  <a:t>; </a:t>
                </a: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2 (x₀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x</a:t>
                </a:r>
                <a:r>
                  <a:rPr lang="ru-RU" dirty="0">
                    <a:latin typeface="fkGroteskNeue"/>
                  </a:rPr>
                  <a:t>₀ ∨ x</a:t>
                </a:r>
                <a:r>
                  <a:rPr lang="ru-RU" b="0" i="0" dirty="0">
                    <a:effectLst/>
                    <a:latin typeface="fkGroteskNeue"/>
                  </a:rPr>
                  <a:t>₁): </a:t>
                </a:r>
                <a:r>
                  <a:rPr lang="en-US" dirty="0" err="1">
                    <a:latin typeface="fkGroteskNeue"/>
                  </a:rPr>
                  <a:t>bruteforce</a:t>
                </a:r>
                <a:r>
                  <a:rPr lang="en-US" dirty="0">
                    <a:latin typeface="fkGroteskNeue"/>
                  </a:rPr>
                  <a:t> = 0.0</a:t>
                </a:r>
                <a:r>
                  <a:rPr lang="ru-RU" dirty="0">
                    <a:latin typeface="fkGroteskNeue"/>
                  </a:rPr>
                  <a:t>08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, </a:t>
                </a:r>
                <a:r>
                  <a:rPr lang="en-US" dirty="0">
                    <a:latin typeface="fkGroteskNeue"/>
                  </a:rPr>
                  <a:t>DPLL = 0.</a:t>
                </a:r>
                <a:r>
                  <a:rPr lang="ru-RU" dirty="0">
                    <a:latin typeface="fkGroteskNeue"/>
                  </a:rPr>
                  <a:t>125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, </a:t>
                </a:r>
                <a:r>
                  <a:rPr lang="en-US" dirty="0">
                    <a:latin typeface="fkGroteskNeue"/>
                  </a:rPr>
                  <a:t>CDCL = 0.</a:t>
                </a:r>
                <a:r>
                  <a:rPr lang="ru-RU" dirty="0">
                    <a:latin typeface="fkGroteskNeue"/>
                  </a:rPr>
                  <a:t>169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en-US" dirty="0">
                    <a:latin typeface="fkGroteskNeue"/>
                  </a:rPr>
                  <a:t>, Z3 = </a:t>
                </a:r>
                <a:r>
                  <a:rPr lang="ru-RU" dirty="0">
                    <a:latin typeface="fkGroteskNeue"/>
                  </a:rPr>
                  <a:t>7</a:t>
                </a:r>
                <a:r>
                  <a:rPr lang="en-US" dirty="0">
                    <a:latin typeface="fkGroteskNeue"/>
                  </a:rPr>
                  <a:t>.</a:t>
                </a:r>
                <a:r>
                  <a:rPr lang="ru-RU" dirty="0">
                    <a:latin typeface="fkGroteskNeue"/>
                  </a:rPr>
                  <a:t>522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; </a:t>
                </a:r>
                <a:endParaRPr lang="ru-RU" b="0" i="0" dirty="0">
                  <a:effectLst/>
                  <a:latin typeface="fkGroteskNeue"/>
                </a:endParaRP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8 (x₀ →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¬x₀ ∨ x₁): </a:t>
                </a:r>
                <a:r>
                  <a:rPr lang="ru-RU" b="0" i="0" dirty="0" err="1">
                    <a:effectLst/>
                    <a:latin typeface="fkGroteskNeue"/>
                  </a:rPr>
                  <a:t>bruteforce</a:t>
                </a:r>
                <a:r>
                  <a:rPr lang="ru-RU" b="0" i="0" dirty="0">
                    <a:effectLst/>
                    <a:latin typeface="fkGroteskNeue"/>
                  </a:rPr>
                  <a:t> = 0.011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en-US" b="0" i="0" dirty="0">
                    <a:effectLst/>
                    <a:latin typeface="fkGroteskNeue"/>
                  </a:rPr>
                  <a:t>,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en-US" b="0" i="0" dirty="0">
                    <a:effectLst/>
                    <a:latin typeface="fkGroteskNeue"/>
                  </a:rPr>
                  <a:t>DPLL = 0.</a:t>
                </a:r>
                <a:r>
                  <a:rPr lang="ru-RU" b="0" i="0" dirty="0">
                    <a:effectLst/>
                    <a:latin typeface="fkGroteskNeue"/>
                  </a:rPr>
                  <a:t>130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ru-RU" b="0" i="0" dirty="0">
                    <a:effectLst/>
                    <a:latin typeface="fkGroteskNeue"/>
                  </a:rPr>
                  <a:t>, </a:t>
                </a:r>
                <a:r>
                  <a:rPr lang="en-US" b="0" i="0" dirty="0">
                    <a:effectLst/>
                    <a:latin typeface="fkGroteskNeue"/>
                  </a:rPr>
                  <a:t>CDCL = </a:t>
                </a:r>
                <a:r>
                  <a:rPr lang="ru-RU" b="0" i="0" dirty="0">
                    <a:effectLst/>
                    <a:latin typeface="fkGroteskNeue"/>
                  </a:rPr>
                  <a:t>0.250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en-US" dirty="0">
                    <a:latin typeface="fkGroteskNeue"/>
                  </a:rPr>
                  <a:t>, </a:t>
                </a:r>
                <a:r>
                  <a:rPr lang="ru-RU" b="0" i="0" dirty="0">
                    <a:effectLst/>
                    <a:latin typeface="fkGroteskNeue"/>
                  </a:rPr>
                  <a:t>Z3 = </a:t>
                </a:r>
                <a:r>
                  <a:rPr lang="en-US" b="0" i="0" dirty="0">
                    <a:effectLst/>
                    <a:latin typeface="fkGroteskNeue"/>
                  </a:rPr>
                  <a:t>0.0</a:t>
                </a:r>
                <a:r>
                  <a:rPr lang="ru-RU" b="0" i="0" dirty="0">
                    <a:effectLst/>
                    <a:latin typeface="fkGroteskNeue"/>
                  </a:rPr>
                  <a:t>59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ru-RU" b="0" i="0" dirty="0">
                    <a:effectLst/>
                    <a:latin typeface="fkGroteskNeue"/>
                  </a:rPr>
                  <a:t>. 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1A858C-C156-B159-B6C9-F121B8D996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  <a:blipFill>
                <a:blip r:embed="rId2"/>
                <a:stretch>
                  <a:fillRect l="-1217" t="-2111" r="-98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A9B4D4-F583-4F00-82AF-F1312670A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19134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показывает, что на малых входах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часто быстрее Z3 из-за накладных расходов инициализации Z3. </a:t>
            </a:r>
            <a:r>
              <a:rPr lang="en-US" b="0" i="0" dirty="0">
                <a:effectLst/>
                <a:latin typeface="fkGroteskNeue"/>
              </a:rPr>
              <a:t>DPLL </a:t>
            </a:r>
            <a:r>
              <a:rPr lang="ru-RU" b="0" i="0" dirty="0">
                <a:effectLst/>
                <a:latin typeface="fkGroteskNeue"/>
              </a:rPr>
              <a:t>и </a:t>
            </a:r>
            <a:r>
              <a:rPr lang="en-US" b="0" i="0" dirty="0">
                <a:effectLst/>
                <a:latin typeface="fkGroteskNeue"/>
              </a:rPr>
              <a:t>CDCL </a:t>
            </a:r>
            <a:r>
              <a:rPr lang="ru-RU" dirty="0">
                <a:latin typeface="fkGroteskNeue"/>
              </a:rPr>
              <a:t>«стабильны» и показывают близкое друг к другу время.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Наблюдается высокая вариативность Z3, что объясняется сложностью конкретной формулы и эффективностью применяемых эвристик.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8B48195-C63F-4F12-A718-4C6E83988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9070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Основной набор экспериментов включал бенчмарки на формулах с числом переменных от 2 до </a:t>
            </a:r>
            <a:r>
              <a:rPr lang="en-US" b="0" i="0" dirty="0">
                <a:effectLst/>
                <a:latin typeface="fkGroteskNeue"/>
              </a:rPr>
              <a:t>100</a:t>
            </a:r>
            <a:r>
              <a:rPr lang="ru-RU" b="0" i="0" dirty="0">
                <a:effectLst/>
                <a:latin typeface="fkGroteskNeue"/>
              </a:rPr>
              <a:t>. Результаты (средние значения из </a:t>
            </a:r>
            <a:r>
              <a:rPr lang="en-US" b="0" i="0" dirty="0">
                <a:effectLst/>
                <a:latin typeface="fkGroteskNeue"/>
              </a:rPr>
              <a:t>5</a:t>
            </a:r>
            <a:r>
              <a:rPr lang="ru-RU" b="0" i="0" dirty="0">
                <a:effectLst/>
                <a:latin typeface="fkGroteskNeue"/>
              </a:rPr>
              <a:t> проходов): 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02A2F1F-0D0F-4B1E-9DF2-007B1B928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29</a:t>
            </a:fld>
            <a:endParaRPr lang="ru-RU"/>
          </a:p>
        </p:txBody>
      </p:sp>
      <p:graphicFrame>
        <p:nvGraphicFramePr>
          <p:cNvPr id="4" name="Таблица 5">
            <a:extLst>
              <a:ext uri="{FF2B5EF4-FFF2-40B4-BE49-F238E27FC236}">
                <a16:creationId xmlns:a16="http://schemas.microsoft.com/office/drawing/2014/main" id="{6D2B0336-6D32-4E1A-8814-FB60900DCC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469005"/>
              </p:ext>
            </p:extLst>
          </p:nvPr>
        </p:nvGraphicFramePr>
        <p:xfrm>
          <a:off x="2124527" y="3206612"/>
          <a:ext cx="812800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77343069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8603833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8711808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82750629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50096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Bruteforce</a:t>
                      </a:r>
                      <a:r>
                        <a:rPr lang="en-US" dirty="0"/>
                        <a:t>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DPLL,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CDCL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Z3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0527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0.021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0.538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1.047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0.294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8480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1.447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3.317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0.340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9777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6.424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1.911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2.935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0.342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9846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9175.2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18.12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30.91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0.365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826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202.1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347.0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0.469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2978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658.1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987.7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0.477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642481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81F0687-91F4-404D-B4A0-F1C0F6C92EC9}"/>
              </a:ext>
            </a:extLst>
          </p:cNvPr>
          <p:cNvSpPr txBox="1"/>
          <p:nvPr/>
        </p:nvSpPr>
        <p:spPr>
          <a:xfrm>
            <a:off x="838200" y="5986019"/>
            <a:ext cx="788469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dirty="0">
                <a:latin typeface="fkGroteskNeue"/>
                <a:hlinkClick r:id="rId2"/>
              </a:rPr>
              <a:t>Полная таблица</a:t>
            </a:r>
            <a:endParaRPr lang="ru-RU" dirty="0"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2622615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данных выявляет критическую точку между n=</a:t>
            </a:r>
            <a:r>
              <a:rPr lang="en-US" b="0" i="0" dirty="0">
                <a:effectLst/>
                <a:latin typeface="fkGroteskNeue"/>
              </a:rPr>
              <a:t>10</a:t>
            </a:r>
            <a:r>
              <a:rPr lang="ru-RU" b="0" i="0" dirty="0">
                <a:effectLst/>
                <a:latin typeface="fkGroteskNeue"/>
              </a:rPr>
              <a:t> и n=1</a:t>
            </a:r>
            <a:r>
              <a:rPr lang="en-US" b="0" i="0" dirty="0">
                <a:effectLst/>
                <a:latin typeface="fkGroteskNeue"/>
              </a:rPr>
              <a:t>2</a:t>
            </a:r>
            <a:r>
              <a:rPr lang="ru-RU" b="0" i="0" dirty="0">
                <a:effectLst/>
                <a:latin typeface="fkGroteskNeue"/>
              </a:rPr>
              <a:t>, где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начинает демонстрировать экспоненциальный рост временной сложности, соответствующий предсказанной теоретической O(2ⁿ) сложности.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 n=2</a:t>
            </a:r>
            <a:r>
              <a:rPr lang="en-US" b="0" i="0" dirty="0">
                <a:effectLst/>
                <a:latin typeface="fkGroteskNeue"/>
              </a:rPr>
              <a:t>2</a:t>
            </a:r>
            <a:r>
              <a:rPr lang="ru-RU" b="0" i="0" dirty="0">
                <a:effectLst/>
                <a:latin typeface="fkGroteskNeue"/>
              </a:rPr>
              <a:t> Z3 превосходит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в </a:t>
            </a:r>
            <a:r>
              <a:rPr lang="ru-RU" dirty="0">
                <a:latin typeface="fkGroteskNeue"/>
              </a:rPr>
              <a:t>тысячи</a:t>
            </a:r>
            <a:r>
              <a:rPr lang="ru-RU" b="0" i="0" dirty="0">
                <a:effectLst/>
                <a:latin typeface="fkGroteskNeue"/>
              </a:rPr>
              <a:t> раз. Z3 демонстрирует практически константное время выполнения (0.2-0.4 мс) независимо от n.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Учебные версии </a:t>
            </a:r>
            <a:r>
              <a:rPr lang="en-US" dirty="0">
                <a:latin typeface="fkGroteskNeue"/>
              </a:rPr>
              <a:t>DPLL </a:t>
            </a:r>
            <a:r>
              <a:rPr lang="ru-RU" dirty="0">
                <a:latin typeface="fkGroteskNeue"/>
              </a:rPr>
              <a:t>и </a:t>
            </a:r>
            <a:r>
              <a:rPr lang="en-US" dirty="0">
                <a:latin typeface="fkGroteskNeue"/>
              </a:rPr>
              <a:t>CDCL </a:t>
            </a:r>
            <a:r>
              <a:rPr lang="ru-RU" dirty="0">
                <a:latin typeface="fkGroteskNeue"/>
              </a:rPr>
              <a:t>также демонстрируют отличное время, но заметен рост времени с ростом </a:t>
            </a:r>
            <a:r>
              <a:rPr lang="en-US" dirty="0">
                <a:latin typeface="fkGroteskNeue"/>
              </a:rPr>
              <a:t>n.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8B91326-A240-4ECF-862C-8E973625B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9966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График сравнения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C1A45A6-5423-3701-984B-3E74D0929AE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98"/>
          <a:stretch/>
        </p:blipFill>
        <p:spPr>
          <a:xfrm>
            <a:off x="2283292" y="1395663"/>
            <a:ext cx="7625416" cy="43008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32219-7E12-F0D8-E972-007704B22F27}"/>
              </a:ext>
            </a:extLst>
          </p:cNvPr>
          <p:cNvSpPr txBox="1"/>
          <p:nvPr/>
        </p:nvSpPr>
        <p:spPr>
          <a:xfrm>
            <a:off x="1651905" y="5696496"/>
            <a:ext cx="90732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График зависимости времени выполнения от числа </a:t>
            </a:r>
            <a:r>
              <a:rPr lang="ru-RU" sz="2000" dirty="0" err="1"/>
              <a:t>входовых</a:t>
            </a:r>
            <a:r>
              <a:rPr lang="ru-RU" sz="2000" dirty="0"/>
              <a:t> переменных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4AB321F-351E-47DB-82CC-C73189F1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2957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График сравнения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C1A45A6-5423-3701-984B-3E74D0929A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99" b="2999"/>
          <a:stretch/>
        </p:blipFill>
        <p:spPr>
          <a:xfrm>
            <a:off x="2283292" y="1395663"/>
            <a:ext cx="7625416" cy="43008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32219-7E12-F0D8-E972-007704B22F27}"/>
              </a:ext>
            </a:extLst>
          </p:cNvPr>
          <p:cNvSpPr txBox="1"/>
          <p:nvPr/>
        </p:nvSpPr>
        <p:spPr>
          <a:xfrm>
            <a:off x="1651905" y="5696496"/>
            <a:ext cx="90732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График зависимости для 500+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4AB321F-351E-47DB-82CC-C73189F1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21395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Визуализация результатов на графике с логарифмической шкалой времени выявляет контрастные характеристики </a:t>
            </a:r>
            <a:r>
              <a:rPr lang="ru-RU" dirty="0">
                <a:latin typeface="fkGroteskNeue"/>
              </a:rPr>
              <a:t>четырёх </a:t>
            </a:r>
            <a:r>
              <a:rPr lang="ru-RU" b="0" i="0" dirty="0">
                <a:effectLst/>
                <a:latin typeface="fkGroteskNeue"/>
              </a:rPr>
              <a:t>подходов.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демонстрирует характерный для O(2ⁿ) функции вид: резкое экспоненциальное возрастание.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Z3 демонстрирует слабую зависимость от размера входа и выглядит почти горизонтальной. Это связано с тем, что при малых и средних размерах формул основную долю времени составляют фиксированные накладные расходы</a:t>
            </a:r>
            <a:r>
              <a:rPr lang="en-US" dirty="0">
                <a:latin typeface="fkGroteskNeue"/>
              </a:rPr>
              <a:t>.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Учебные </a:t>
            </a:r>
            <a:r>
              <a:rPr lang="en-US" dirty="0">
                <a:latin typeface="fkGroteskNeue"/>
              </a:rPr>
              <a:t>DPLL </a:t>
            </a:r>
            <a:r>
              <a:rPr lang="ru-RU" dirty="0">
                <a:latin typeface="fkGroteskNeue"/>
              </a:rPr>
              <a:t>и </a:t>
            </a:r>
            <a:r>
              <a:rPr lang="en-US" dirty="0">
                <a:latin typeface="fkGroteskNeue"/>
              </a:rPr>
              <a:t>CDCL </a:t>
            </a:r>
            <a:r>
              <a:rPr lang="ru-RU" dirty="0">
                <a:latin typeface="fkGroteskNeue"/>
              </a:rPr>
              <a:t>растут с небольшой скоростью.</a:t>
            </a: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0DBAE94-8F3E-4894-96DC-F958E6CC7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71346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Это графически демонстрирует качественное различие между подходами: полный перебор </a:t>
            </a:r>
            <a:r>
              <a:rPr lang="ru-RU" b="0" i="0" dirty="0" err="1">
                <a:effectLst/>
                <a:latin typeface="fkGroteskNeue"/>
              </a:rPr>
              <a:t>экспоненциален</a:t>
            </a:r>
            <a:r>
              <a:rPr lang="ru-RU" b="0" i="0" dirty="0">
                <a:effectLst/>
                <a:latin typeface="fkGroteskNeue"/>
              </a:rPr>
              <a:t> по определению, тогда как </a:t>
            </a:r>
            <a:r>
              <a:rPr lang="en-US" dirty="0">
                <a:latin typeface="fkGroteskNeue"/>
              </a:rPr>
              <a:t>Z3</a:t>
            </a:r>
            <a:r>
              <a:rPr lang="ru-RU" b="0" i="0" dirty="0">
                <a:effectLst/>
                <a:latin typeface="fkGroteskNeue"/>
              </a:rPr>
              <a:t> показывает практическую нечувствительность к размеру входа на экземплярах со структурой.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Область пересечения кривых находится при n ≈ 10-12 переменных, что соответствует точке уравновешивания накладных расходов Z3 и превосходства эффективности алгоритма при возрастании сложности.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541CAD4-49F3-4705-BA4A-012A355B4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7987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SAT-решатели используются в критических приложениях современной цифровой индустрии: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Верификация аппаратуры (</a:t>
            </a:r>
            <a:r>
              <a:rPr lang="ru-RU" b="0" i="0" dirty="0" err="1">
                <a:effectLst/>
                <a:latin typeface="fkGroteskNeue"/>
              </a:rPr>
              <a:t>Hardware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Verification</a:t>
            </a:r>
            <a:r>
              <a:rPr lang="ru-RU" b="0" i="0" dirty="0">
                <a:effectLst/>
                <a:latin typeface="fkGroteskNeue"/>
              </a:rPr>
              <a:t>) — SAT является основным инструментом при проверке эквивалентности схем (</a:t>
            </a:r>
            <a:r>
              <a:rPr lang="ru-RU" b="0" i="0" dirty="0" err="1">
                <a:effectLst/>
                <a:latin typeface="fkGroteskNeue"/>
              </a:rPr>
              <a:t>Equivalence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в процессе проектирования СБИС, что обеспечивает корректность микропроцессоров и других цифровых систем;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Формальная верификация программного обеспечения (Model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— использование SAT для автоматической проверки моделей систем против спецификаций безопасности;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FCEFF7A-0248-41B7-B2F6-FAE6D76E3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3314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Оптимизация и планирование — решение задач удовлетворения ограничений (CSP) при планировании производства, составлении расписаний, размещении ресурсов;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Криптографический анализ — использование SAT-решателей для анализа криптографических примитивов, поиска коллизий, обнаружения уязвимостей;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Синтез программ — автоматическое синтезирование кода, удовлетворяющего заданным спецификациям посредством </a:t>
            </a:r>
            <a:r>
              <a:rPr lang="ru-RU" b="0" i="0">
                <a:effectLst/>
                <a:latin typeface="fkGroteskNeue"/>
              </a:rPr>
              <a:t>SAT-редукции.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Глобальный </a:t>
            </a:r>
            <a:r>
              <a:rPr lang="ru-RU" b="0" i="0" dirty="0">
                <a:effectLst/>
                <a:latin typeface="fkGroteskNeue"/>
              </a:rPr>
              <a:t>рынок средств верификации аппаратуры, опирающихся на SAT-технологию, оценивается в миллиарды долларов, что подтверждает критическую значимость этой технологии.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B199B2-C158-49A4-9EDA-5B2D84B2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50971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Несмотря на значительные успехи, CDCL-решатели сталкиваются с рядом трудностей: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Масштабируемость на очень большие экземпляры — формулы с сотнями тысяч клауз остаются вызовом, требуя часов вычисления;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Зависимость от структуры экземпляра — случайные формулы часто решаются быстро, тогда как структурированные экземпляры (возникающие из реальных приложений) могут демонстрировать непредсказуемо долгое время решения;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Качество эвристик выбора переменной — неправильный выбор эвристики может замедлить алгоритм в 1000 раз;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4414503-E004-4E28-992E-24EBE48E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5028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4) Фазовые переходы — для некоторого класса случайных формул наблюдается резкий переход от простого к сложному при определённом соотношении клауз к переменным, создающий "пиковую сложность";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Проблема несбалансированного поиска — алгоритм может зависнуть в неудачной ветви, несмотря на наличие других решающих </a:t>
            </a:r>
            <a:r>
              <a:rPr lang="ru-RU" b="0" i="0">
                <a:effectLst/>
                <a:latin typeface="fkGroteskNeue"/>
              </a:rPr>
              <a:t>путей.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Указанные </a:t>
            </a:r>
            <a:r>
              <a:rPr lang="ru-RU" b="0" i="0" dirty="0">
                <a:effectLst/>
                <a:latin typeface="fkGroteskNeue"/>
              </a:rPr>
              <a:t>ограничения остаются активной областью исследований, включая разработку адаптивных эвристик, параллельных SAT-решателей и гибридных подходов.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9A37503-CBE7-44C8-BDE3-BE11EC2CF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3654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Проведённое исследование подтвердило следующие ключевые положения: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Проблема SAT остаётся NP-полной, и методы полного перебора </a:t>
            </a:r>
            <a:r>
              <a:rPr lang="ru-RU" b="0" i="0" dirty="0" err="1">
                <a:effectLst/>
                <a:latin typeface="fkGroteskNeue"/>
              </a:rPr>
              <a:t>экспоненциальны</a:t>
            </a:r>
            <a:r>
              <a:rPr lang="ru-RU" b="0" i="0" dirty="0">
                <a:effectLst/>
                <a:latin typeface="fkGroteskNeue"/>
              </a:rPr>
              <a:t> по определению, практически применимы только для n ≤ 25 переменных;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Алгоритм DPLL, базирующийся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, обеспечивает значительное сокращение пространства поиска по сравнению с полным перебором, но не использует информацию из конфликтов;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83094D7-4AAE-40FD-B102-287EFB92C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532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Алгоритм CDCL, расширяющий DPLL посредством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learning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non-chronological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и интеллектуальных эвристик, достигает практических решений задач со сложностью, казалось бы, непреодолимой для методов полного перебора;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Z3 SMT-решатель, реализующий CDCL с многочисленными оптимизациями, демонстрирует ускорение на 100-400 раз по сравнению с </a:t>
            </a:r>
            <a:r>
              <a:rPr lang="ru-RU" b="0" i="0" dirty="0" err="1">
                <a:effectLst/>
                <a:latin typeface="fkGroteskNeue"/>
              </a:rPr>
              <a:t>брутфорсом</a:t>
            </a:r>
            <a:r>
              <a:rPr lang="ru-RU" b="0" i="0" dirty="0">
                <a:effectLst/>
                <a:latin typeface="fkGroteskNeue"/>
              </a:rPr>
              <a:t> на формулах масштаба 20-25 переменных;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2ECA31E-91E0-4F72-9FE1-3F8171538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20444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SAT-технология является критической инфраструктурой для верификации аппаратуры, тестирования ПО и множества других приложений в современной цифровой индустрии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Результаты </a:t>
            </a:r>
            <a:r>
              <a:rPr lang="ru-RU" b="0" i="0" dirty="0">
                <a:effectLst/>
                <a:latin typeface="fkGroteskNeue"/>
              </a:rPr>
              <a:t>подтверждают гипотезу о том, что интеллектуальные алгоритмические подходы преодолевают теоретические барьеры экспоненциальной сложности и обеспечивают практическую разрешимость задач, неразрешимых наивными методами.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EA3F5C-1A10-4333-BB12-4ED8F6BCA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11494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Роли в команде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Барченков П.А. — Главы 1,2, управление проектом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Лебедев И.А. — разработка программного комплекса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Шарапов И.Д. — тестирование ПК, Глава 3, презентация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A9FC68C-42E9-4D87-ADC9-79020943E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0197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370</TotalTime>
  <Words>3213</Words>
  <Application>Microsoft Office PowerPoint</Application>
  <PresentationFormat>Широкоэкранный</PresentationFormat>
  <Paragraphs>251</Paragraphs>
  <Slides>42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42</vt:i4>
      </vt:variant>
    </vt:vector>
  </HeadingPairs>
  <TitlesOfParts>
    <vt:vector size="50" baseType="lpstr">
      <vt:lpstr>Aptos</vt:lpstr>
      <vt:lpstr>Aptos Display</vt:lpstr>
      <vt:lpstr>Arial</vt:lpstr>
      <vt:lpstr>Cambria Math</vt:lpstr>
      <vt:lpstr>Consolas</vt:lpstr>
      <vt:lpstr>fkGroteskNeue</vt:lpstr>
      <vt:lpstr>KaTeX_Main</vt:lpstr>
      <vt:lpstr>Office Theme</vt:lpstr>
      <vt:lpstr>Применение SAT-решателей для верификации комбинационных схем</vt:lpstr>
      <vt:lpstr>Введение</vt:lpstr>
      <vt:lpstr>Цель исследования</vt:lpstr>
      <vt:lpstr>Суть проблемы</vt:lpstr>
      <vt:lpstr>Суть проблемы</vt:lpstr>
      <vt:lpstr>Математические основы</vt:lpstr>
      <vt:lpstr>Математические основы</vt:lpstr>
      <vt:lpstr>Преобразование Цейтна</vt:lpstr>
      <vt:lpstr>Преобразование Цейтна</vt:lpstr>
      <vt:lpstr>Ограничения полного перебора</vt:lpstr>
      <vt:lpstr>SAT-редукция</vt:lpstr>
      <vt:lpstr>Алгоритм DPLL</vt:lpstr>
      <vt:lpstr>Алгоритм DPLL</vt:lpstr>
      <vt:lpstr>Алгоритм CDCL</vt:lpstr>
      <vt:lpstr>Алгоритм CDCL</vt:lpstr>
      <vt:lpstr>AST</vt:lpstr>
      <vt:lpstr>Z3 решатель</vt:lpstr>
      <vt:lpstr>VSIDS-эвристика</vt:lpstr>
      <vt:lpstr>Полный перебор</vt:lpstr>
      <vt:lpstr>Полный перебор</vt:lpstr>
      <vt:lpstr>Использование Z3</vt:lpstr>
      <vt:lpstr>Использование Z3</vt:lpstr>
      <vt:lpstr>Учебный DPLL</vt:lpstr>
      <vt:lpstr>Учебный DPLL</vt:lpstr>
      <vt:lpstr>Учебный CDCL</vt:lpstr>
      <vt:lpstr>Учебный CDCL</vt:lpstr>
      <vt:lpstr>Ручное сравнение</vt:lpstr>
      <vt:lpstr>Ручное сравнение</vt:lpstr>
      <vt:lpstr>Автоматическое сравнение</vt:lpstr>
      <vt:lpstr>Автоматическое сравнение</vt:lpstr>
      <vt:lpstr>График сравнения</vt:lpstr>
      <vt:lpstr>График сравнения</vt:lpstr>
      <vt:lpstr>Анализ графика</vt:lpstr>
      <vt:lpstr>Анализ графика</vt:lpstr>
      <vt:lpstr>Применение SAT-технологий</vt:lpstr>
      <vt:lpstr>Применение SAT-технологий</vt:lpstr>
      <vt:lpstr>Ограничения и проблемы</vt:lpstr>
      <vt:lpstr>Ограничения и проблемы</vt:lpstr>
      <vt:lpstr>Выводы</vt:lpstr>
      <vt:lpstr>Выводы</vt:lpstr>
      <vt:lpstr>Выводы</vt:lpstr>
      <vt:lpstr>Роли в команде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Применение SAT-решателей для верификации комбинационных схем</dc:title>
  <dc:creator>Иван Шарапов</dc:creator>
  <cp:lastModifiedBy>Иван Шарапов</cp:lastModifiedBy>
  <cp:revision>43</cp:revision>
  <cp:lastPrinted>2025-12-23T17:01:37Z</cp:lastPrinted>
  <dcterms:created xsi:type="dcterms:W3CDTF">2025-12-23T16:14:15Z</dcterms:created>
  <dcterms:modified xsi:type="dcterms:W3CDTF">2026-01-10T14:29:58Z</dcterms:modified>
</cp:coreProperties>
</file>