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7"/>
  </p:notes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4" r:id="rId9"/>
    <p:sldId id="265" r:id="rId10"/>
    <p:sldId id="267" r:id="rId11"/>
    <p:sldId id="268" r:id="rId12"/>
    <p:sldId id="269" r:id="rId13"/>
    <p:sldId id="292" r:id="rId14"/>
    <p:sldId id="293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1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6" autoAdjust="0"/>
    <p:restoredTop sz="94660"/>
  </p:normalViewPr>
  <p:slideViewPr>
    <p:cSldViewPr snapToGrid="0">
      <p:cViewPr varScale="1">
        <p:scale>
          <a:sx n="158" d="100"/>
          <a:sy n="158" d="100"/>
        </p:scale>
        <p:origin x="348" y="1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8CC9F5-884F-49E5-B517-9E8FA7861F61}" type="datetimeFigureOut">
              <a:rPr lang="ru-RU" smtClean="0"/>
              <a:t>07.01.2026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B54255-CD34-44F6-A681-AB4C19756AF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7043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DC980-0D23-43BB-A63D-56EA25751E22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2634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A71A22-D42E-48D0-B1EB-6892DBED9C56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0650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DD7171-AC31-463F-8826-96FEC8E67E89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13005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1178B0-B191-4CA8-A160-1541DB9A6C24}" type="datetime1">
              <a:rPr lang="ru-RU" smtClean="0"/>
              <a:t>07.01.2026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6591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C2932A-EC0D-4F11-89AA-A0E1CA5C3E2B}" type="datetime1">
              <a:rPr lang="ru-RU" smtClean="0"/>
              <a:t>07.01.2026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44713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A57ABA-A7EE-4550-8639-D4A488B95078}" type="datetime1">
              <a:rPr lang="ru-RU" smtClean="0"/>
              <a:t>07.01.2026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7343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B34CC7-46C4-4103-B06C-B49D2A297761}" type="datetime1">
              <a:rPr lang="ru-RU" smtClean="0"/>
              <a:t>07.01.2026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696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038EE-DC73-4007-AA63-1E959F10CF99}" type="datetime1">
              <a:rPr lang="ru-RU" smtClean="0"/>
              <a:t>07.01.2026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733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00D20A-60A2-4F74-B982-667F8D4AF630}" type="datetime1">
              <a:rPr lang="ru-RU" smtClean="0"/>
              <a:t>07.01.2026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732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715FF3-9884-4E00-9FC8-FC2FD387C6D9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883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A60C8-0F3A-4141-9ED5-D0A4E82A6F06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1737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1BF9C1-DB9B-4141-BFA9-B42D79F508B1}" type="datetime1">
              <a:rPr lang="ru-RU" smtClean="0"/>
              <a:t>07.01.2026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7A8E35-B303-42FD-88A6-20A8D5E4F37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4787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B648A7-B845-6B8F-28F2-2216AA938CA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Применение SAT-решателей для верификации комбинационных схем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08E1C7D-991C-E978-2819-AC63592A05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5181"/>
            <a:ext cx="9144000" cy="1655762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Выполнили студенты группы 3312:</a:t>
            </a:r>
          </a:p>
          <a:p>
            <a:r>
              <a:rPr lang="ru-RU" dirty="0"/>
              <a:t>Барченков Платон Алексеевич</a:t>
            </a:r>
          </a:p>
          <a:p>
            <a:r>
              <a:rPr lang="ru-RU" dirty="0"/>
              <a:t>Лебедев Игнат Артемович</a:t>
            </a:r>
          </a:p>
          <a:p>
            <a:r>
              <a:rPr lang="ru-RU" dirty="0"/>
              <a:t>Шарапов Иван Денисович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1C32449-B853-470B-8DFB-2D6497745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6072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Введение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проверки выполнимости булевых формул (SAT) представляет собой одну из фундаментальных NP-полных (полный перебор). Несмотря на отсутствие известных полиномиальных алгоритмов решения в общем случае, современные SAT-решатели, основанные на алгоритме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Learning), демонстрируют эффективное решение формул с сотнями и тысячами переменных. 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8DFCAB0-9277-439D-8D0D-D5EA5B4F4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92146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Цель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Целью данного исследования является систематическое изучение эволюции алгоритмических подходов от классического DPLL (</a:t>
            </a:r>
            <a:r>
              <a:rPr lang="ru-RU" b="0" i="0" dirty="0" err="1">
                <a:effectLst/>
                <a:latin typeface="fkGroteskNeue"/>
              </a:rPr>
              <a:t>Davis-Putnam-Logemann-Loveland</a:t>
            </a:r>
            <a:r>
              <a:rPr lang="ru-RU" b="0" i="0" dirty="0">
                <a:effectLst/>
                <a:latin typeface="fkGroteskNeue"/>
              </a:rPr>
              <a:t>) к современному CDCL, анализ архитектуры промышленного SMT-решателя Z3 от Microsoft Research, и эмпирическое сравнение производительности полного перебора с CDCL-алгоритмом на примере задачи проверки эквивалентности булевых схем.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48999C-A15F-4A53-8E5B-4B51C3C6A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98427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формулируется следующим образом: дана булева формула F, составленная из пропозициональных переменных, логических операторов (конъюнкция, дизъюнкция, отрицание) и скобок. Требуется определить, существует ли такое назначение значений всем переменным из множества {0,1}, при котором формула F принимает значение истинно (1). Если такое назначение существует, формула называется выполнимой (SAT); в противном случае — невыполнимой (UNSAT).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265271-A918-4D03-954F-8176C2A41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60726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Суть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Проблема SAT является первой NP-полной задачей, доказанной Стивеном Куком в 1971 году (теорема Кука). Хотя в худшем случае проблема требует экспоненциального времени вычисления O(2^n), где n — число переменных, эмпирические исследования показывают, что для большинства практических экземпляров современные SAT-решатели находят решение значительно быстрее.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53BA7F9-A899-4BF3-834E-B15ECDB83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65679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Математические Основы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Булева переменная принимает значения из множества {0, 1}. Литерал — это либо переменная x, либо её отрицание ¬x. Клауза представляет собой дизъюнкцию литералов: (l₁ ∨ l₂ ∨ ... ∨ lₖ). Конъюнктивная Нормальная Форма (КНФ) — это конъюнкция клауз: (C₁ ∧ C₂ ∧ ... ∧ Cₘ).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КНФ является стандартным представлением для входных данных SAT-решателей, поскольку она позволяет эффективно применять методы, основанные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resolution</a:t>
            </a:r>
            <a:r>
              <a:rPr lang="ru-RU" b="0" i="0" dirty="0">
                <a:effectLst/>
                <a:latin typeface="fkGroteskNeue"/>
              </a:rPr>
              <a:t>. Любая булева формула может быть преобразована в эквивалентную КНФ-формулу посредством распределительного закона, хотя это преобразование может экспоненциально увеличить размер формулы.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Основные логические операции определяются таблицами истинности: конъюнкция (AND), дизъюнкция (OR) и отрицание (NOT).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Формальное определение выполнимости: формула F называется выполнимой, если существует интерпретация I: F → {0, 1}, такая что F(I) = 1.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CDF7197-9710-4F65-AA4A-E4BA8225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3320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полного перебора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Метод полного перебора (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) основан на систематическом тестировании всех возможных назначений значений переменным формулы. Практическая применимость этого метода ограничивается следующим образом: при n = 10 переменных требуется проверить 1024 комбинации; при n = 20 — 1048576 комбинаций; при n = 30 — 1073741824 комбинаций.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Экспоненциальный рост функции 2ⁿ делает полный перебор практически неприменимым для n &gt; 25 на современных вычислительных системах. А такой запрос есть.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CF50E8-CF4E-4F7A-9469-8A13C19A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05638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редукция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Одним из значительных практических применений SAT-решателей является верификация эквивалентности цифровых схем. Пусть даны две булевы функции F₁ и F₂, реализованные различными схемотехническими реализациями. Вопрос верификации формулируется следующим образом: выполняется ли условие ∀x ∈ {0,1}ⁿ: F₁(x) = F₂(x)? Классический подход к решению этой задачи посредством SAT-решателя использует конструкцию, называемую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D(x) = (F₁(x) ∧ ¬F₂(x)) ∨ (¬F₁(x) ∧ F₂(x)).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D истинна тогда и только тогда, когда F₁ и F₂ выдают различные значения при некотором входном векторе x. SAT-решатель решает задачу о выполнимости D. Если D выполнима (SAT), то найдено свидетельство неэквивалентности (контрпример). Если D невыполнима (UNSAT), функции эквивалентны.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B2F3A90-9F6E-4A95-9DA8-C97913D98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58387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DPLL, предложенный </a:t>
            </a:r>
            <a:r>
              <a:rPr lang="ru-RU" b="0" i="0" dirty="0" err="1">
                <a:effectLst/>
                <a:latin typeface="fkGroteskNeue"/>
              </a:rPr>
              <a:t>Davis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Putnam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Logemann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Loveland</a:t>
            </a:r>
            <a:r>
              <a:rPr lang="ru-RU" b="0" i="0" dirty="0">
                <a:effectLst/>
                <a:latin typeface="fkGroteskNeue"/>
              </a:rPr>
              <a:t> в 1960-х годах, представляет собой первый систематический метод решения SAT-задач, использующий принцип поиска с возвратом (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). Работает исключительно с формулами в конъюнктивной нормальной форме (КНФ). Основные компоненты алгоритма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Unit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— если клауза содержит единственный литерал, этот литерал обязательно должен быть установлен в истину; в результате клауза удаляется, остальные клаузы упрощаются путём удаления противоположного литерала;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Pure </a:t>
            </a:r>
            <a:r>
              <a:rPr lang="ru-RU" b="0" i="0" dirty="0" err="1">
                <a:effectLst/>
                <a:latin typeface="fkGroteskNeue"/>
              </a:rPr>
              <a:t>Literal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Elimination</a:t>
            </a:r>
            <a:r>
              <a:rPr lang="ru-RU" b="0" i="0" dirty="0">
                <a:effectLst/>
                <a:latin typeface="fkGroteskNeue"/>
              </a:rPr>
              <a:t> — если переменная встречается в формуле только в одном полярном виде, ей присваивается значение, удовлетворяющее все содержащие её клаузы;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</a:t>
            </a:r>
            <a:r>
              <a:rPr lang="ru-RU" b="0" i="0" dirty="0" err="1">
                <a:effectLst/>
                <a:latin typeface="fkGroteskNeue"/>
              </a:rPr>
              <a:t>Decision</a:t>
            </a:r>
            <a:r>
              <a:rPr lang="ru-RU" b="0" i="0" dirty="0">
                <a:effectLst/>
                <a:latin typeface="fkGroteskNeue"/>
              </a:rPr>
              <a:t> — выбор неустановленной переменной и рекурсивная попытка обоих её значений; 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98957FA-0A58-4FB5-A0FA-A12124F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9445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DPLL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при обнаружении противоречия (пустой клаузы) возврат к последней точке выбора и попытка альтернативного значения.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DPLL значительно снижает эффективный размер пространства поиска по сравнению с полным перебором, однако не использует информацию из предыдущих конфликтов для оптимизации будущего поиска.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b="0" i="0" dirty="0">
                <a:effectLst/>
                <a:latin typeface="fkGroteskNeue"/>
              </a:rPr>
              <a:t>Этого недостатка лишён следующий алгоритм.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 худшем случае временная сложность DPLL остаётся экспоненциальной.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F3F3132-00CF-4874-8B4C-59FAEA439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3260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CDCL (</a:t>
            </a:r>
            <a:r>
              <a:rPr lang="ru-RU" b="0" i="0" dirty="0" err="1">
                <a:effectLst/>
                <a:latin typeface="fkGroteskNeue"/>
              </a:rPr>
              <a:t>Conflict</a:t>
            </a:r>
            <a:r>
              <a:rPr lang="ru-RU" b="0" i="0" dirty="0">
                <a:effectLst/>
                <a:latin typeface="fkGroteskNeue"/>
              </a:rPr>
              <a:t>-Driven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Learning) представляет собой современное расширение DPLL, определившее развитие SAT-решателей за последние два десятилетия. Ключевые инновации CDCL включают: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Learning — при обнаружении конфликта анализируются причины конфликта: выполняется обход графа импликаций в обратном направлении; на основе этого анализа синтезируется новая клауза, которая добавляется в формулу и предотвращает повторение идентичного конфликта;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Non-</a:t>
            </a:r>
            <a:r>
              <a:rPr lang="ru-RU" b="0" i="0" dirty="0" err="1">
                <a:effectLst/>
                <a:latin typeface="fkGroteskNeue"/>
              </a:rPr>
              <a:t>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— возврат выполняется не на один уровень, а на уровень, определяемый анализом конфликта (</a:t>
            </a:r>
            <a:r>
              <a:rPr lang="ru-RU" b="0" i="0" dirty="0" err="1">
                <a:effectLst/>
                <a:latin typeface="fkGroteskNeue"/>
              </a:rPr>
              <a:t>asserting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level</a:t>
            </a:r>
            <a:r>
              <a:rPr lang="ru-RU" b="0" i="0" dirty="0">
                <a:effectLst/>
                <a:latin typeface="fkGroteskNeue"/>
              </a:rPr>
              <a:t>), что позволяет более эффективно сужать пространство поиска; 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B133BAB-901F-4384-B9F6-B8D98B83DE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8210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Алгоритм </a:t>
            </a:r>
            <a:r>
              <a:rPr lang="en-US" dirty="0">
                <a:solidFill>
                  <a:schemeClr val="bg1"/>
                </a:solidFill>
              </a:rPr>
              <a:t>CDCL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VSIDS </a:t>
            </a:r>
            <a:r>
              <a:rPr lang="ru-RU" b="0" i="0" dirty="0" err="1">
                <a:effectLst/>
                <a:latin typeface="fkGroteskNeue"/>
              </a:rPr>
              <a:t>Heuristic</a:t>
            </a:r>
            <a:r>
              <a:rPr lang="ru-RU" b="0" i="0" dirty="0">
                <a:effectLst/>
                <a:latin typeface="fkGroteskNeue"/>
              </a:rPr>
              <a:t> (</a:t>
            </a:r>
            <a:r>
              <a:rPr lang="ru-RU" b="0" i="0" dirty="0" err="1">
                <a:effectLst/>
                <a:latin typeface="fkGroteskNeue"/>
              </a:rPr>
              <a:t>Variable</a:t>
            </a:r>
            <a:r>
              <a:rPr lang="ru-RU" b="0" i="0" dirty="0">
                <a:effectLst/>
                <a:latin typeface="fkGroteskNeue"/>
              </a:rPr>
              <a:t> State Independent </a:t>
            </a:r>
            <a:r>
              <a:rPr lang="ru-RU" b="0" i="0" dirty="0" err="1">
                <a:effectLst/>
                <a:latin typeface="fkGroteskNeue"/>
              </a:rPr>
              <a:t>Decaying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Sum</a:t>
            </a:r>
            <a:r>
              <a:rPr lang="ru-RU" b="0" i="0" dirty="0">
                <a:effectLst/>
                <a:latin typeface="fkGroteskNeue"/>
              </a:rPr>
              <a:t>) — эвристика выбора переменной, которая </a:t>
            </a:r>
            <a:r>
              <a:rPr lang="ru-RU" b="0" i="0" dirty="0" err="1">
                <a:effectLst/>
                <a:latin typeface="fkGroteskNeue"/>
              </a:rPr>
              <a:t>приоритизирует</a:t>
            </a:r>
            <a:r>
              <a:rPr lang="ru-RU" b="0" i="0" dirty="0">
                <a:effectLst/>
                <a:latin typeface="fkGroteskNeue"/>
              </a:rPr>
              <a:t> переменные, часто появляющиеся в недавних конфликтах, с экспоненциальным затуханием старых данных;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Restarts</a:t>
            </a:r>
            <a:r>
              <a:rPr lang="ru-RU" b="0" i="0" dirty="0">
                <a:effectLst/>
                <a:latin typeface="fkGroteskNeue"/>
              </a:rPr>
              <a:t> — периодическая перезагрузка процесса поиска с сохранением выученных клауз, что помогает преодолевать "застревание" в неудачных ветвях;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In-</a:t>
            </a:r>
            <a:r>
              <a:rPr lang="ru-RU" b="0" i="0" dirty="0" err="1">
                <a:effectLst/>
                <a:latin typeface="fkGroteskNeue"/>
              </a:rPr>
              <a:t>processing</a:t>
            </a:r>
            <a:r>
              <a:rPr lang="ru-RU" b="0" i="0" dirty="0">
                <a:effectLst/>
                <a:latin typeface="fkGroteskNeue"/>
              </a:rPr>
              <a:t> — оптимизация формулы во время решения путём упрощения и удаления избыточных клауз. </a:t>
            </a:r>
            <a:endParaRPr lang="en-US" b="0" i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CDCL-решатели </a:t>
            </a:r>
            <a:r>
              <a:rPr lang="ru-RU" b="0" i="0" dirty="0">
                <a:effectLst/>
                <a:latin typeface="fkGroteskNeue"/>
              </a:rPr>
              <a:t>демонстрируют способность решать практические экземпляры SAT с тысячами переменных и миллионами клауз.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7D31043C-911B-444D-A1E3-CBCD9C0FA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2175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Z3 </a:t>
            </a:r>
            <a:r>
              <a:rPr lang="ru-RU" dirty="0">
                <a:solidFill>
                  <a:schemeClr val="bg1"/>
                </a:solidFill>
              </a:rPr>
              <a:t>решатель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Z3 — SMT-решатель, разработанный в Microsoft Research. В отличие от классических SAT-решателей, Z3 поддерживает не только булеву логику, но и теории целых/вещественных чисел, массивов и функций.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Архитектура основана на CDCL-алгоритме, дополненном слоями: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и построение AST, применение теоретических </a:t>
            </a:r>
            <a:r>
              <a:rPr lang="ru-RU" b="0" i="0" dirty="0" err="1">
                <a:effectLst/>
                <a:latin typeface="fkGroteskNeue"/>
              </a:rPr>
              <a:t>разрешителей</a:t>
            </a:r>
            <a:r>
              <a:rPr lang="ru-RU" b="0" i="0" dirty="0">
                <a:effectLst/>
                <a:latin typeface="fkGroteskNeue"/>
              </a:rPr>
              <a:t>, ядро SAT-решателя с оптимизациями, управление конфликтами и обучение клаузам.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Производительность обеспечивается благодаря VSIDS-эвристике, эффективному управлению памятью, стратегиям рестарта и параллельному поиску. Решатель распространяется открытым исходным кодом на </a:t>
            </a:r>
            <a:r>
              <a:rPr lang="ru-RU" b="0" i="0" dirty="0" err="1">
                <a:effectLst/>
                <a:latin typeface="fkGroteskNeue"/>
              </a:rPr>
              <a:t>GitHub</a:t>
            </a:r>
            <a:r>
              <a:rPr lang="ru-RU" b="0" i="0" dirty="0">
                <a:effectLst/>
                <a:latin typeface="fkGroteskNeue"/>
              </a:rPr>
              <a:t> с поддержкой привязок для Python, Java, C++, Go и </a:t>
            </a:r>
            <a:r>
              <a:rPr lang="ru-RU" b="0" i="0" dirty="0" err="1">
                <a:effectLst/>
                <a:latin typeface="fkGroteskNeue"/>
              </a:rPr>
              <a:t>Rust</a:t>
            </a:r>
            <a:r>
              <a:rPr lang="ru-RU" b="0" i="0" dirty="0">
                <a:effectLst/>
                <a:latin typeface="fkGroteskNeue"/>
              </a:rPr>
              <a:t>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CB4DA7F-6AFA-4332-B7B0-81DF413806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09175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AST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Абстрактное синтаксическое дерево (англ. </a:t>
            </a:r>
            <a:r>
              <a:rPr lang="ru-RU" b="0" i="0" dirty="0" err="1">
                <a:effectLst/>
                <a:latin typeface="fkGroteskNeue"/>
              </a:rPr>
              <a:t>abstract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syntax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tree</a:t>
            </a:r>
            <a:r>
              <a:rPr lang="ru-RU" b="0" i="0" dirty="0">
                <a:effectLst/>
                <a:latin typeface="fkGroteskNeue"/>
              </a:rPr>
              <a:t>, AST) — конечное помеченное ориентированное дерево, в котором внутренние вершины сопоставлены (помечены) с операторами, а листья — с соответствующими операндами.</a:t>
            </a:r>
            <a:r>
              <a:rPr lang="en-US" b="0" i="0" dirty="0">
                <a:effectLst/>
                <a:latin typeface="fkGroteskNeue"/>
              </a:rPr>
              <a:t> </a:t>
            </a:r>
            <a:r>
              <a:rPr lang="ru-RU" dirty="0"/>
              <a:t>Таким образом, листья являются пустыми операторами и представляют только переменные и константы.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F58395C-9FD8-4434-81C3-6965928A008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107"/>
          <a:stretch/>
        </p:blipFill>
        <p:spPr>
          <a:xfrm>
            <a:off x="5449561" y="4039501"/>
            <a:ext cx="5904239" cy="2404842"/>
          </a:xfrm>
          <a:prstGeom prst="rect">
            <a:avLst/>
          </a:prstGeom>
        </p:spPr>
      </p:pic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CE1BE82-7172-4188-874A-3C6F6F47E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2223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Описание ПК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Реализованная система верификации состоит из следующих основных компонентов: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Tokenizer</a:t>
            </a:r>
            <a:r>
              <a:rPr lang="ru-RU" b="0" i="0" dirty="0">
                <a:effectLst/>
                <a:latin typeface="fkGroteskNeue"/>
              </a:rPr>
              <a:t> — лексический анализатор, преобразующий входную строку булева выражения в последовательность токенов (переменные, операторы, скобки), с обработкой ошибок синтаксиса;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</a:t>
            </a:r>
            <a:r>
              <a:rPr lang="ru-RU" b="0" i="0" dirty="0" err="1">
                <a:effectLst/>
                <a:latin typeface="fkGroteskNeue"/>
              </a:rPr>
              <a:t>Parser</a:t>
            </a:r>
            <a:r>
              <a:rPr lang="ru-RU" b="0" i="0" dirty="0">
                <a:effectLst/>
                <a:latin typeface="fkGroteskNeue"/>
              </a:rPr>
              <a:t> — синтаксический анализатор, конструирующий Абстрактное Синтаксическое Дерево (AST) с соблюдением приоритета операций (!&gt; ∧ &gt; ∨ &gt; →);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0DF14DF-BD61-4C34-9E4E-CCFAF16E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163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Описание ПК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AST </a:t>
            </a:r>
            <a:r>
              <a:rPr lang="ru-RU" b="0" i="0" dirty="0" err="1">
                <a:effectLst/>
                <a:latin typeface="fkGroteskNeue"/>
              </a:rPr>
              <a:t>Representation</a:t>
            </a:r>
            <a:r>
              <a:rPr lang="ru-RU" b="0" i="0" dirty="0">
                <a:effectLst/>
                <a:latin typeface="fkGroteskNeue"/>
              </a:rPr>
              <a:t> — иерархическое представление формулы с использованием узлов типов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(переменная), </a:t>
            </a:r>
            <a:r>
              <a:rPr lang="ru-RU" b="0" i="0" dirty="0" err="1">
                <a:effectLst/>
                <a:latin typeface="fkGroteskNeue"/>
              </a:rPr>
              <a:t>NotNode</a:t>
            </a:r>
            <a:r>
              <a:rPr lang="ru-RU" b="0" i="0" dirty="0">
                <a:effectLst/>
                <a:latin typeface="fkGroteskNeue"/>
              </a:rPr>
              <a:t> (отрицание), </a:t>
            </a:r>
            <a:r>
              <a:rPr lang="ru-RU" b="0" i="0" dirty="0" err="1">
                <a:effectLst/>
                <a:latin typeface="fkGroteskNeue"/>
              </a:rPr>
              <a:t>BinNode</a:t>
            </a:r>
            <a:r>
              <a:rPr lang="ru-RU" b="0" i="0" dirty="0">
                <a:effectLst/>
                <a:latin typeface="fkGroteskNeue"/>
              </a:rPr>
              <a:t> (бинарная операция);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Force </a:t>
            </a:r>
            <a:r>
              <a:rPr lang="ru-RU" b="0" i="0" dirty="0" err="1">
                <a:effectLst/>
                <a:latin typeface="fkGroteskNeue"/>
              </a:rPr>
              <a:t>Verifier</a:t>
            </a:r>
            <a:r>
              <a:rPr lang="ru-RU" b="0" i="0" dirty="0">
                <a:effectLst/>
                <a:latin typeface="fkGroteskNeue"/>
              </a:rPr>
              <a:t> — модуль полного перебора, перечисляющий все 2ⁿ интерпретаций и сравнивающий результаты вычисления обеих формул;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Z3 </a:t>
            </a:r>
            <a:r>
              <a:rPr lang="ru-RU" b="0" i="0" dirty="0" err="1">
                <a:effectLst/>
                <a:latin typeface="fkGroteskNeue"/>
              </a:rPr>
              <a:t>Integration</a:t>
            </a:r>
            <a:r>
              <a:rPr lang="ru-RU" b="0" i="0" dirty="0">
                <a:effectLst/>
                <a:latin typeface="fkGroteskNeue"/>
              </a:rPr>
              <a:t> Layer — преобразование AST в Z3-выражения и использование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 для проверки выполнимости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(6) </a:t>
            </a:r>
            <a:r>
              <a:rPr lang="ru-RU" b="0" i="0" dirty="0" err="1">
                <a:effectLst/>
                <a:latin typeface="fkGroteskNeue"/>
              </a:rPr>
              <a:t>Benchmarking</a:t>
            </a:r>
            <a:r>
              <a:rPr lang="ru-RU" b="0" i="0" dirty="0">
                <a:effectLst/>
                <a:latin typeface="fkGroteskNeue"/>
              </a:rPr>
              <a:t> Framework — система сбора и анализа временных метрик, включающая измерение производительности обоих подходов на формулах возрастающей сложности с сохранением результатов в CSV-формате.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AC1ABF7-2EAC-45F1-9081-D88161981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7115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Алгоритм полного перебора для проверки эквивалентности двух булевых формул F₁ и F₂ основан на следующей процедуре: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Пусть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= {x₀, x₁, ..., xₙ₋₁} — объединение множеств переменных обеих формул. Для каждой интерпретации σ: </a:t>
            </a:r>
            <a:r>
              <a:rPr lang="ru-RU" b="0" i="0" dirty="0" err="1">
                <a:effectLst/>
                <a:latin typeface="fkGroteskNeue"/>
              </a:rPr>
              <a:t>Var</a:t>
            </a:r>
            <a:r>
              <a:rPr lang="ru-RU" b="0" i="0" dirty="0">
                <a:effectLst/>
                <a:latin typeface="fkGroteskNeue"/>
              </a:rPr>
              <a:t> → {0, 1} (всего 2ⁿ интерпретаций) вычисляются значения F₁(σ) и F₂(σ). Если существует интерпретация σ, для которой F₁(σ) ≠ F₂(σ), формулы не эквивалентны — процедура возвращает </a:t>
            </a:r>
            <a:r>
              <a:rPr lang="ru-RU" b="0" i="0" dirty="0" err="1">
                <a:effectLst/>
                <a:latin typeface="fkGroteskNeue"/>
              </a:rPr>
              <a:t>False</a:t>
            </a:r>
            <a:r>
              <a:rPr lang="ru-RU" b="0" i="0" dirty="0">
                <a:effectLst/>
                <a:latin typeface="fkGroteskNeue"/>
              </a:rPr>
              <a:t>. Если все интерпретации удовлетворяют F₁(σ) = F₂(σ), формулы эквивалентны — возвращает True. 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0FDAAFE-ACCE-459A-BD42-482B02F6C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322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Полный перебор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Временная </a:t>
            </a:r>
            <a:r>
              <a:rPr lang="ru-RU" b="0" i="0" dirty="0">
                <a:effectLst/>
                <a:latin typeface="fkGroteskNeue"/>
              </a:rPr>
              <a:t>сложность алгоритма: T = O(2ⁿ · m), где m — время вычисления формулы. Пространственная сложность: O(n). Практическая верхняя граница применимости полного перебора составляет n ≤ 25 переменных на современных ПК, при этом время вычисления может достигать нескольких минут</a:t>
            </a:r>
            <a:r>
              <a:rPr lang="ru-RU" b="0" i="0">
                <a:effectLst/>
                <a:latin typeface="fkGroteskNeue"/>
              </a:rPr>
              <a:t>. 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Преимущество </a:t>
            </a:r>
            <a:r>
              <a:rPr lang="ru-RU" b="0" i="0" dirty="0">
                <a:effectLst/>
                <a:latin typeface="fkGroteskNeue"/>
              </a:rPr>
              <a:t>метода — простота реализации и гарантированная корректность. Недостаток — невозможность масштабирования на более крупные задачи.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DFD50E0-FD6E-4394-B4DD-801178EEC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4438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Подход верификации с использованием Z3 основан на редукции к задаче выполнимости. Для проверки эквивалентности F₁ ≡ F₂ строится формула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: M(x) = (F₁(x) ∧ ¬F₂(x)) ∨ (¬F₁(x) ∧ F₂(x)).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Формула M выражает XOR функций: M истинна тогда и только тогда, когда F₁ и F₂ выдают различные значения. Процедура: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 обеих формул в AST; 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Трансляция AST в Z3 выражения с использованием рекурсивного обхода дерева и преобразования узлов в соответствующие Z3 примитивы (And, </a:t>
            </a:r>
            <a:r>
              <a:rPr lang="ru-RU" b="0" i="0" dirty="0" err="1">
                <a:effectLst/>
                <a:latin typeface="fkGroteskNeue"/>
              </a:rPr>
              <a:t>Or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Not</a:t>
            </a:r>
            <a:r>
              <a:rPr lang="ru-RU" b="0" i="0" dirty="0">
                <a:effectLst/>
                <a:latin typeface="fkGroteskNeue"/>
              </a:rPr>
              <a:t>);</a:t>
            </a:r>
            <a:endParaRPr lang="en-US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50728505-F386-45EA-90CC-D691EA1CA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95620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Использование </a:t>
            </a:r>
            <a:r>
              <a:rPr lang="en-US" dirty="0">
                <a:solidFill>
                  <a:schemeClr val="bg1"/>
                </a:solidFill>
              </a:rPr>
              <a:t>Z3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Конструирование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как булево выражение в Z3;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Добавление </a:t>
            </a:r>
            <a:r>
              <a:rPr lang="ru-RU" b="0" i="0" dirty="0" err="1">
                <a:effectLst/>
                <a:latin typeface="fkGroteskNeue"/>
              </a:rPr>
              <a:t>miter</a:t>
            </a:r>
            <a:r>
              <a:rPr lang="ru-RU" b="0" i="0" dirty="0">
                <a:effectLst/>
                <a:latin typeface="fkGroteskNeue"/>
              </a:rPr>
              <a:t> в Z3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: </a:t>
            </a:r>
            <a:r>
              <a:rPr lang="ru-RU" b="0" i="0" dirty="0" err="1">
                <a:effectLst/>
                <a:latin typeface="fkGroteskNeue"/>
              </a:rPr>
              <a:t>solver.add</a:t>
            </a:r>
            <a:r>
              <a:rPr lang="ru-RU" b="0" i="0" dirty="0">
                <a:effectLst/>
                <a:latin typeface="fkGroteskNeue"/>
              </a:rPr>
              <a:t>(M);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Вызов </a:t>
            </a:r>
            <a:r>
              <a:rPr lang="ru-RU" b="0" i="0" dirty="0" err="1">
                <a:effectLst/>
                <a:latin typeface="fkGroteskNeue"/>
              </a:rPr>
              <a:t>solver.check</a:t>
            </a:r>
            <a:r>
              <a:rPr lang="ru-RU" b="0" i="0" dirty="0">
                <a:effectLst/>
                <a:latin typeface="fkGroteskNeue"/>
              </a:rPr>
              <a:t>(): если результат SAT, найдено свидетельство различия — формулы не эквивалентны; если UNSAT — формулы эквивалентны. Z3 при наличии свидетельства (SAT) может извлечь значение-модель, которое служит контрпримером.</a:t>
            </a:r>
            <a:endParaRPr lang="en-US" b="0" i="0" dirty="0">
              <a:effectLst/>
              <a:latin typeface="fkGroteskNeue"/>
            </a:endParaRP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Временная сложность в среднем случае практически не зависит от n, что демонстрирует эффективность CDCL-стратегий.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F24A9A7-DD02-4C15-B447-CC7B6D020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27763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Для анализа производительности на малых формулах (n ≤ 10 переменных) были проведены измерения на наборе тестовых примеров с различными типами логических связей. Результаты показали: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1 (x₀ ∨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x₁ ∨ x₀): </a:t>
                </a:r>
                <a:r>
                  <a:rPr lang="ru-RU" b="0" i="0" dirty="0" err="1">
                    <a:effectLst/>
                    <a:latin typeface="fkGroteskNeue"/>
                  </a:rPr>
                  <a:t>brute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force</a:t>
                </a:r>
                <a:r>
                  <a:rPr lang="ru-RU" b="0" i="0" dirty="0">
                    <a:effectLst/>
                    <a:latin typeface="fkGroteskNeue"/>
                  </a:rPr>
                  <a:t> = 0.016 мс, Z3 = 0.576 мс; 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2 (x₀ ∨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x₀ </a:t>
                </a:r>
                <a14:m>
                  <m:oMath xmlns:m="http://schemas.openxmlformats.org/officeDocument/2006/math">
                    <m:r>
                      <a:rPr lang="ru-RU" b="0" i="1" smtClean="0">
                        <a:effectLst/>
                        <a:latin typeface="Cambria Math" panose="02040503050406030204" pitchFamily="18" charset="0"/>
                      </a:rPr>
                      <m:t>∧</m:t>
                    </m:r>
                  </m:oMath>
                </a14:m>
                <a:r>
                  <a:rPr lang="ru-RU" b="0" i="0" dirty="0">
                    <a:effectLst/>
                    <a:latin typeface="fkGroteskNeue"/>
                  </a:rPr>
                  <a:t> x₁): </a:t>
                </a:r>
                <a:r>
                  <a:rPr lang="ru-RU" b="0" i="0" dirty="0" err="1">
                    <a:effectLst/>
                    <a:latin typeface="fkGroteskNeue"/>
                  </a:rPr>
                  <a:t>brute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force</a:t>
                </a:r>
                <a:r>
                  <a:rPr lang="ru-RU" b="0" i="0" dirty="0">
                    <a:effectLst/>
                    <a:latin typeface="fkGroteskNeue"/>
                  </a:rPr>
                  <a:t> = 0.011 мс, Z3 = 0.650 мс; </a:t>
                </a:r>
              </a:p>
              <a:p>
                <a:pPr marL="0" indent="0">
                  <a:buNone/>
                </a:pPr>
                <a:r>
                  <a:rPr lang="ru-RU" b="0" i="0" dirty="0">
                    <a:effectLst/>
                    <a:latin typeface="fkGroteskNeue"/>
                  </a:rPr>
                  <a:t>Пример 8 (x₀ → x₁ </a:t>
                </a:r>
                <a:r>
                  <a:rPr lang="ru-RU" b="0" i="0" dirty="0" err="1">
                    <a:effectLst/>
                    <a:latin typeface="fkGroteskNeue"/>
                  </a:rPr>
                  <a:t>vs</a:t>
                </a:r>
                <a:r>
                  <a:rPr lang="ru-RU" b="0" i="0" dirty="0">
                    <a:effectLst/>
                    <a:latin typeface="fkGroteskNeue"/>
                  </a:rPr>
                  <a:t> ¬x₀ ∨ x₁): </a:t>
                </a:r>
                <a:r>
                  <a:rPr lang="ru-RU" b="0" i="0" dirty="0" err="1">
                    <a:effectLst/>
                    <a:latin typeface="fkGroteskNeue"/>
                  </a:rPr>
                  <a:t>brute</a:t>
                </a:r>
                <a:r>
                  <a:rPr lang="ru-RU" b="0" i="0" dirty="0">
                    <a:effectLst/>
                    <a:latin typeface="fkGroteskNeue"/>
                  </a:rPr>
                  <a:t> </a:t>
                </a:r>
                <a:r>
                  <a:rPr lang="ru-RU" b="0" i="0" dirty="0" err="1">
                    <a:effectLst/>
                    <a:latin typeface="fkGroteskNeue"/>
                  </a:rPr>
                  <a:t>force</a:t>
                </a:r>
                <a:r>
                  <a:rPr lang="ru-RU" b="0" i="0" dirty="0">
                    <a:effectLst/>
                    <a:latin typeface="fkGroteskNeue"/>
                  </a:rPr>
                  <a:t> = 0.012 мс, Z3 = 0.040 мс. 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EF1A858C-C156-B159-B6C9-F121B8D996B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18718"/>
              </a:xfrm>
              <a:blipFill>
                <a:blip r:embed="rId2"/>
                <a:stretch>
                  <a:fillRect l="-1217" t="-211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EA9B4D4-F583-4F00-82AF-F1312670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1913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Ручное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показывает, что на малых входах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часто быстрее Z3 из-за накладных расходов инициализации Z3 (</a:t>
            </a:r>
            <a:r>
              <a:rPr lang="ru-RU" b="0" i="0" dirty="0" err="1">
                <a:effectLst/>
                <a:latin typeface="fkGroteskNeue"/>
              </a:rPr>
              <a:t>парсинг</a:t>
            </a:r>
            <a:r>
              <a:rPr lang="ru-RU" b="0" i="0" dirty="0">
                <a:effectLst/>
                <a:latin typeface="fkGroteskNeue"/>
              </a:rPr>
              <a:t>, инициализация </a:t>
            </a:r>
            <a:r>
              <a:rPr lang="ru-RU" b="0" i="0" dirty="0" err="1">
                <a:effectLst/>
                <a:latin typeface="fkGroteskNeue"/>
              </a:rPr>
              <a:t>Solver</a:t>
            </a:r>
            <a:r>
              <a:rPr lang="ru-RU" b="0" i="0" dirty="0">
                <a:effectLst/>
                <a:latin typeface="fkGroteskNeue"/>
              </a:rPr>
              <a:t>, построение внутренних структур данных). Однако наблюдается высокая вариативность Z3, что объясняется сложностью конкретной формулы и эффективностью применяемых эвристик.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примере № 8 видно, что при простой логической эквивалентности Z3 показывает превосходство. Эти результаты иллюстрируют существование точки пересечения, после которой CDCL-подход становится доминирующим.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8B48195-C63F-4F12-A718-4C6E83988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990702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Основной набор экспериментов включал бенчмарки на формулах с числом переменных от 2 до 25. Результаты (средние значения из 30 проходов):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n=10: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0.117 мс, Z3 = 0.345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n=15: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1.164 мс, Z3 = 0.331 мс;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n=17: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6.220 мс, Z3 = 0.346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n=19: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19.309 мс, Z3 = 0.321 мс;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n=20: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15.168 мс, Z3 = 0.360 мс;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602A2F1F-0D0F-4B1E-9DF2-007B1B928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22615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Автоматическое сравнение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n=25: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= 124.952 мс, Z3 = 0.291 мс.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Анализ данных выявляет критическую точку между n=13 и n=15, где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начинает демонстрировать экспоненциальный рост временной сложности, соответствующий предсказанной теоретической O(2ⁿ) сложности.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На n=25 Z3 превосходит </a:t>
            </a:r>
            <a:r>
              <a:rPr lang="ru-RU" b="0" i="0" dirty="0" err="1">
                <a:effectLst/>
                <a:latin typeface="fkGroteskNeue"/>
              </a:rPr>
              <a:t>брутфорс</a:t>
            </a:r>
            <a:r>
              <a:rPr lang="ru-RU" b="0" i="0" dirty="0">
                <a:effectLst/>
                <a:latin typeface="fkGroteskNeue"/>
              </a:rPr>
              <a:t> в 400 раз. Z3 демонстрирует практически константное время выполнения (0.2-0.4 мс) независимо от n, что подтверждает эффективность CDCL-алгоритма при работе с реальными формулами.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8B91326-A240-4ECF-862C-8E973625B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99666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График сравнения</a:t>
            </a:r>
          </a:p>
        </p:txBody>
      </p:sp>
      <p:pic>
        <p:nvPicPr>
          <p:cNvPr id="9" name="Рисунок 8" descr="График сравнения времени от количества входов">
            <a:extLst>
              <a:ext uri="{FF2B5EF4-FFF2-40B4-BE49-F238E27FC236}">
                <a16:creationId xmlns:a16="http://schemas.microsoft.com/office/drawing/2014/main" id="{7C1A45A6-5423-3701-984B-3E74D0929A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9914" y="1234435"/>
            <a:ext cx="5852172" cy="438912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5A32219-7E12-F0D8-E972-007704B22F27}"/>
              </a:ext>
            </a:extLst>
          </p:cNvPr>
          <p:cNvSpPr txBox="1"/>
          <p:nvPr/>
        </p:nvSpPr>
        <p:spPr>
          <a:xfrm>
            <a:off x="1651905" y="5696496"/>
            <a:ext cx="907324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/>
              <a:t>График зависимости времени выполнения от числа </a:t>
            </a:r>
            <a:r>
              <a:rPr lang="ru-RU" sz="2000" dirty="0" err="1"/>
              <a:t>входовых</a:t>
            </a:r>
            <a:r>
              <a:rPr lang="ru-RU" sz="2000" dirty="0"/>
              <a:t> переменных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4AB321F-351E-47DB-82CC-C73189F1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9579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Визуализация результатов на графике с логарифмической шкалой времени выявляет контрастные характеристики двух подходов.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</a:t>
            </a:r>
            <a:r>
              <a:rPr lang="ru-RU" b="0" i="0" dirty="0" err="1">
                <a:effectLst/>
                <a:latin typeface="fkGroteskNeue"/>
              </a:rPr>
              <a:t>brute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force</a:t>
            </a:r>
            <a:r>
              <a:rPr lang="ru-RU" b="0" i="0" dirty="0">
                <a:effectLst/>
                <a:latin typeface="fkGroteskNeue"/>
              </a:rPr>
              <a:t> демонстрирует характерный для O(2ⁿ) функции вид: практически горизонтальная для n ≤ 13, затем резкое экспоненциальное возрастание.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Кривая Z3 проявляет </a:t>
            </a:r>
            <a:r>
              <a:rPr lang="ru-RU" b="0" i="0" dirty="0" err="1">
                <a:effectLst/>
                <a:latin typeface="fkGroteskNeue"/>
              </a:rPr>
              <a:t>субэкспоненциальное</a:t>
            </a:r>
            <a:r>
              <a:rPr lang="ru-RU" b="0" i="0" dirty="0">
                <a:effectLst/>
                <a:latin typeface="fkGroteskNeue"/>
              </a:rPr>
              <a:t> поведение: практически горизонтальная на всём диапазоне с малой вариативностью.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0DBAE94-8F3E-4894-96DC-F958E6CC7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7134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Анализ графика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Это графически демонстрирует качественное различие между подходами: полный перебор </a:t>
            </a:r>
            <a:r>
              <a:rPr lang="ru-RU" b="0" i="0" dirty="0" err="1">
                <a:effectLst/>
                <a:latin typeface="fkGroteskNeue"/>
              </a:rPr>
              <a:t>экспоненциален</a:t>
            </a:r>
            <a:r>
              <a:rPr lang="ru-RU" b="0" i="0" dirty="0">
                <a:effectLst/>
                <a:latin typeface="fkGroteskNeue"/>
              </a:rPr>
              <a:t> по определению, тогда как CDCL показывает практическую нечувствительность к размеру входа на экземплярах со структурой.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Область пересечения кривых находится при n ≈ 10-12 переменных, что соответствует точке уравновешивания накладных расходов Z3 и превосходства эффективности алгоритма при возрастании сложности.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541CAD4-49F3-4705-BA4A-012A355B4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7987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SAT-решатели используются в критических приложениях современной цифровой индустрии: 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Верификация аппаратуры (</a:t>
            </a:r>
            <a:r>
              <a:rPr lang="ru-RU" b="0" i="0" dirty="0" err="1">
                <a:effectLst/>
                <a:latin typeface="fkGroteskNeue"/>
              </a:rPr>
              <a:t>Hardware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Verification</a:t>
            </a:r>
            <a:r>
              <a:rPr lang="ru-RU" b="0" i="0" dirty="0">
                <a:effectLst/>
                <a:latin typeface="fkGroteskNeue"/>
              </a:rPr>
              <a:t>) — SAT является основным инструментом при проверке эквивалентности схем (</a:t>
            </a:r>
            <a:r>
              <a:rPr lang="ru-RU" b="0" i="0" dirty="0" err="1">
                <a:effectLst/>
                <a:latin typeface="fkGroteskNeue"/>
              </a:rPr>
              <a:t>Equivalence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в процессе проектирования СБИС, что обеспечивает корректность микропроцессоров и других цифровых систем;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Формальная верификация программного обеспечения (Model </a:t>
            </a:r>
            <a:r>
              <a:rPr lang="ru-RU" b="0" i="0" dirty="0" err="1">
                <a:effectLst/>
                <a:latin typeface="fkGroteskNeue"/>
              </a:rPr>
              <a:t>Checking</a:t>
            </a:r>
            <a:r>
              <a:rPr lang="ru-RU" b="0" i="0" dirty="0">
                <a:effectLst/>
                <a:latin typeface="fkGroteskNeue"/>
              </a:rPr>
              <a:t>) — использование SAT для автоматической проверки моделей систем против спецификаций безопасности;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FCEFF7A-0248-41B7-B2F6-FAE6D76E31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43314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Применение </a:t>
            </a:r>
            <a:r>
              <a:rPr lang="en-US" dirty="0">
                <a:solidFill>
                  <a:schemeClr val="bg1"/>
                </a:solidFill>
              </a:rPr>
              <a:t>SAT-</a:t>
            </a:r>
            <a:r>
              <a:rPr lang="ru-RU" dirty="0">
                <a:solidFill>
                  <a:schemeClr val="bg1"/>
                </a:solidFill>
              </a:rPr>
              <a:t>технологий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3) Оптимизация и планирование — решение задач удовлетворения ограничений (CSP) при планировании производства, составлении расписаний, размещении ресурсов;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Криптографический анализ — использование SAT-решателей для анализа криптографических примитивов, поиска коллизий, обнаружения уязвимостей;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Синтез программ — автоматическое синтезирование кода, удовлетворяющего заданным спецификациям посредством </a:t>
            </a:r>
            <a:r>
              <a:rPr lang="ru-RU" b="0" i="0">
                <a:effectLst/>
                <a:latin typeface="fkGroteskNeue"/>
              </a:rPr>
              <a:t>SAT-редукции.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Глобальный </a:t>
            </a:r>
            <a:r>
              <a:rPr lang="ru-RU" b="0" i="0" dirty="0">
                <a:effectLst/>
                <a:latin typeface="fkGroteskNeue"/>
              </a:rPr>
              <a:t>рынок средств верификации аппаратуры, опирающихся на SAT-технологию, оценивается в миллиарды долларов, что подтверждает критическую значимость этой технологии.</a:t>
            </a:r>
            <a:endParaRPr lang="ru-RU" dirty="0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7B199B2-C158-49A4-9EDA-5B2D84B29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50971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Несмотря на значительные успехи, CDCL-решатели сталкиваются с рядом трудностей: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Масштабируемость на очень большие экземпляры — формулы с сотнями тысяч клауз остаются вызовом, требуя часов вычисления;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Зависимость от структуры экземпляра — случайные формулы часто решаются быстро, тогда как структурированные экземпляры (возникающие из реальных приложений) могут демонстрировать непредсказуемо долгое время решения;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Качество эвристик выбора переменной — неправильный выбор эвристики может замедлить алгоритм в 1000 раз;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D4414503-E004-4E28-992E-24EBE48EB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05028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Ограничения и проблемы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4) Фазовые переходы — для некоторого класса случайных формул наблюдается резкий переход от простого к сложному при определённом соотношении клауз к переменным, создающий "пиковую сложность";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(5) Проблема несбалансированного поиска — алгоритм может зависнуть в неудачной ветви, несмотря на наличие других решающих </a:t>
            </a:r>
            <a:r>
              <a:rPr lang="ru-RU" b="0" i="0">
                <a:effectLst/>
                <a:latin typeface="fkGroteskNeue"/>
              </a:rPr>
              <a:t>путей.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Указанные </a:t>
            </a:r>
            <a:r>
              <a:rPr lang="ru-RU" b="0" i="0" dirty="0">
                <a:effectLst/>
                <a:latin typeface="fkGroteskNeue"/>
              </a:rPr>
              <a:t>ограничения остаются активной областью исследований, включая разработку адаптивных эвристик, параллельных SAT-решателей и гибридных подходов.</a:t>
            </a:r>
          </a:p>
          <a:p>
            <a:pPr marL="0" indent="0">
              <a:buNone/>
            </a:pPr>
            <a:endParaRPr lang="ru-RU" b="0" i="0" dirty="0">
              <a:effectLst/>
              <a:latin typeface="fkGroteskNeue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9A37503-CBE7-44C8-BDE3-BE11EC2CF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3654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Проведённое исследование подтвердило следующие ключевые положения: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(1) Проблема SAT остаётся NP-полной, и методы полного перебора </a:t>
            </a:r>
            <a:r>
              <a:rPr lang="ru-RU" b="0" i="0" dirty="0" err="1">
                <a:effectLst/>
                <a:latin typeface="fkGroteskNeue"/>
              </a:rPr>
              <a:t>экспоненциальны</a:t>
            </a:r>
            <a:r>
              <a:rPr lang="ru-RU" b="0" i="0" dirty="0">
                <a:effectLst/>
                <a:latin typeface="fkGroteskNeue"/>
              </a:rPr>
              <a:t> по определению, практически применимы только для n ≤ 25 переменных;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(2) Алгоритм DPLL, базирующийся на </a:t>
            </a:r>
            <a:r>
              <a:rPr lang="ru-RU" b="0" i="0" dirty="0" err="1">
                <a:effectLst/>
                <a:latin typeface="fkGroteskNeue"/>
              </a:rPr>
              <a:t>unit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propagation</a:t>
            </a:r>
            <a:r>
              <a:rPr lang="ru-RU" b="0" i="0" dirty="0">
                <a:effectLst/>
                <a:latin typeface="fkGroteskNeue"/>
              </a:rPr>
              <a:t> и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, обеспечивает значительное сокращение пространства поиска по сравнению с полным перебором, но не использует информацию из конфликтов;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83094D7-4AAE-40FD-B102-287EFB92C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25328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(3) Алгоритм CDCL, расширяющий DPLL посредством </a:t>
            </a:r>
            <a:r>
              <a:rPr lang="ru-RU" b="0" i="0" dirty="0" err="1">
                <a:effectLst/>
                <a:latin typeface="fkGroteskNeue"/>
              </a:rPr>
              <a:t>clause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learning</a:t>
            </a:r>
            <a:r>
              <a:rPr lang="ru-RU" b="0" i="0" dirty="0">
                <a:effectLst/>
                <a:latin typeface="fkGroteskNeue"/>
              </a:rPr>
              <a:t>, </a:t>
            </a:r>
            <a:r>
              <a:rPr lang="ru-RU" b="0" i="0" dirty="0" err="1">
                <a:effectLst/>
                <a:latin typeface="fkGroteskNeue"/>
              </a:rPr>
              <a:t>non-chronological</a:t>
            </a:r>
            <a:r>
              <a:rPr lang="ru-RU" b="0" i="0" dirty="0">
                <a:effectLst/>
                <a:latin typeface="fkGroteskNeue"/>
              </a:rPr>
              <a:t> </a:t>
            </a:r>
            <a:r>
              <a:rPr lang="ru-RU" b="0" i="0" dirty="0" err="1">
                <a:effectLst/>
                <a:latin typeface="fkGroteskNeue"/>
              </a:rPr>
              <a:t>backtracking</a:t>
            </a:r>
            <a:r>
              <a:rPr lang="ru-RU" b="0" i="0" dirty="0">
                <a:effectLst/>
                <a:latin typeface="fkGroteskNeue"/>
              </a:rPr>
              <a:t> и интеллектуальных эвристик, достигает практических решений задач со сложностью, казалось бы, непреодолимой для методов полного перебора;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(4) Z3 SMT-решатель, реализующий CDCL с многочисленными оптимизациями, демонстрирует ускорение на 100-400 раз по сравнению с </a:t>
            </a:r>
            <a:r>
              <a:rPr lang="ru-RU" b="0" i="0" dirty="0" err="1">
                <a:effectLst/>
                <a:latin typeface="fkGroteskNeue"/>
              </a:rPr>
              <a:t>брутфорсом</a:t>
            </a:r>
            <a:r>
              <a:rPr lang="ru-RU" b="0" i="0" dirty="0">
                <a:effectLst/>
                <a:latin typeface="fkGroteskNeue"/>
              </a:rPr>
              <a:t> на формулах масштаба 20-25 переменных;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2ECA31E-91E0-4F72-9FE1-3F8171538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2044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(</a:t>
            </a:r>
            <a:r>
              <a:rPr lang="ru-RU" b="0" i="0" dirty="0">
                <a:effectLst/>
                <a:latin typeface="fkGroteskNeue"/>
              </a:rPr>
              <a:t>5) SAT-технология является критической инфраструктурой для верификации аппаратуры, тестирования ПО и множества других приложений в современной цифровой индустрии</a:t>
            </a:r>
          </a:p>
          <a:p>
            <a:pPr marL="0" indent="0">
              <a:buNone/>
            </a:pPr>
            <a:r>
              <a:rPr lang="ru-RU" b="0" i="0">
                <a:effectLst/>
                <a:latin typeface="fkGroteskNeue"/>
              </a:rPr>
              <a:t>Результаты </a:t>
            </a:r>
            <a:r>
              <a:rPr lang="ru-RU" b="0" i="0" dirty="0">
                <a:effectLst/>
                <a:latin typeface="fkGroteskNeue"/>
              </a:rPr>
              <a:t>подтверждают гипотезу о том, что интеллектуальные алгоритмические подходы преодолевают теоретические барьеры экспоненциальной сложности и обеспечивают практическую разрешимость задач, неразрешимых наивными методами.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FEA3F5C-1A10-4333-BB12-4ED8F6BCA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14943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0A5064-666A-7555-7357-0F8EFD66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056" y="0"/>
            <a:ext cx="12006943" cy="919842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Роли в команде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F1A858C-C156-B159-B6C9-F121B8D996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1871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Барченков П.А. — Главы 1,2, управление проектом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Лебедев И.А. — разработка программного комплекса</a:t>
            </a:r>
          </a:p>
          <a:p>
            <a:pPr marL="0" indent="0">
              <a:buNone/>
            </a:pPr>
            <a:r>
              <a:rPr lang="ru-RU" b="0" i="0" dirty="0">
                <a:effectLst/>
                <a:latin typeface="fkGroteskNeue"/>
              </a:rPr>
              <a:t>Шарапов И.Д. — тестирование ПК, Глава 3, презентация</a:t>
            </a: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A9FC68C-42E9-4D87-ADC9-79020943E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7A8E35-B303-42FD-88A6-20A8D5E4F372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01970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97E0A228-C590-4D20-B05F-A6BF04A0544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268</TotalTime>
  <Words>2770</Words>
  <Application>Microsoft Office PowerPoint</Application>
  <PresentationFormat>Широкоэкранный</PresentationFormat>
  <Paragraphs>168</Paragraphs>
  <Slides>35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41" baseType="lpstr">
      <vt:lpstr>Aptos</vt:lpstr>
      <vt:lpstr>Aptos Display</vt:lpstr>
      <vt:lpstr>Arial</vt:lpstr>
      <vt:lpstr>Cambria Math</vt:lpstr>
      <vt:lpstr>fkGroteskNeue</vt:lpstr>
      <vt:lpstr>Office Theme</vt:lpstr>
      <vt:lpstr>Применение SAT-решателей для верификации комбинационных схем</vt:lpstr>
      <vt:lpstr>Введение</vt:lpstr>
      <vt:lpstr>Цель исследования</vt:lpstr>
      <vt:lpstr>Суть проблемы</vt:lpstr>
      <vt:lpstr>Суть проблемы</vt:lpstr>
      <vt:lpstr>Математические Основы</vt:lpstr>
      <vt:lpstr>Ограничения полного перебора</vt:lpstr>
      <vt:lpstr>SAT-редукция</vt:lpstr>
      <vt:lpstr>Алгоритм DPLL</vt:lpstr>
      <vt:lpstr>Алгоритм DPLL</vt:lpstr>
      <vt:lpstr>Алгоритм CDCL</vt:lpstr>
      <vt:lpstr>Алгоритм CDCL</vt:lpstr>
      <vt:lpstr>Z3 решатель</vt:lpstr>
      <vt:lpstr>AST</vt:lpstr>
      <vt:lpstr>Описание ПК</vt:lpstr>
      <vt:lpstr>Описание ПК</vt:lpstr>
      <vt:lpstr>Полный перебор</vt:lpstr>
      <vt:lpstr>Полный перебор</vt:lpstr>
      <vt:lpstr>Использование Z3</vt:lpstr>
      <vt:lpstr>Использование Z3</vt:lpstr>
      <vt:lpstr>Ручное сравнение</vt:lpstr>
      <vt:lpstr>Ручное сравнение</vt:lpstr>
      <vt:lpstr>Автоматическое сравнение</vt:lpstr>
      <vt:lpstr>Автоматическое сравнение</vt:lpstr>
      <vt:lpstr>График сравнения</vt:lpstr>
      <vt:lpstr>Анализ графика</vt:lpstr>
      <vt:lpstr>Анализ графика</vt:lpstr>
      <vt:lpstr>Применение SAT-технологий</vt:lpstr>
      <vt:lpstr>Применение SAT-технологий</vt:lpstr>
      <vt:lpstr>Ограничения и проблемы</vt:lpstr>
      <vt:lpstr>Ограничения и проблемы</vt:lpstr>
      <vt:lpstr>Выводы</vt:lpstr>
      <vt:lpstr>Выводы</vt:lpstr>
      <vt:lpstr>Выводы</vt:lpstr>
      <vt:lpstr>Роли в команде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Применение SAT-решателей для верификации комбинационных схем</dc:title>
  <dc:creator>Иван Шарапов</dc:creator>
  <cp:lastModifiedBy>Иван Шарапов</cp:lastModifiedBy>
  <cp:revision>21</cp:revision>
  <cp:lastPrinted>2025-12-23T17:01:37Z</cp:lastPrinted>
  <dcterms:created xsi:type="dcterms:W3CDTF">2025-12-23T16:14:15Z</dcterms:created>
  <dcterms:modified xsi:type="dcterms:W3CDTF">2026-01-07T18:44:19Z</dcterms:modified>
</cp:coreProperties>
</file>